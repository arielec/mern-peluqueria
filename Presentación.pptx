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CA08F-13DD-2EDE-D2F8-0E2038842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EC6AA4-5A52-6959-0F20-EFA141D84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B16B87-19CB-E2A7-73D0-15DC5E4B7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607F-B7BC-410C-AC3D-0EF1890BF10A}" type="datetimeFigureOut">
              <a:rPr lang="es-ES" smtClean="0"/>
              <a:t>26/04/2026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BAD65C-0B4C-3032-9763-DD9B3555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27C8EC-A452-5F0C-0180-73B4F7CD4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A0CE-6EFB-4DE1-9668-B05A3794E1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299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073F3-E849-0889-249F-AD4B7A355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C2AF9C-7914-0A07-B136-E200D275E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9CAF6C-ECC2-4092-E541-3158E6EC6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607F-B7BC-410C-AC3D-0EF1890BF10A}" type="datetimeFigureOut">
              <a:rPr lang="es-ES" smtClean="0"/>
              <a:t>26/04/2026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C4AE7C-0BD7-9AB3-3530-3C5833A97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125A63-D718-9521-1B34-E61200B1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A0CE-6EFB-4DE1-9668-B05A3794E1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867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B9A95-E74B-4773-E021-519C1E68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4A89FB-6FFB-CB02-20A0-4504B910C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ECC76F-42DE-3E60-58A7-D9E813C1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607F-B7BC-410C-AC3D-0EF1890BF10A}" type="datetimeFigureOut">
              <a:rPr lang="es-ES" smtClean="0"/>
              <a:t>26/04/2026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2716B5-FE03-65BF-F4A5-2874BE34D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82AD14-029B-81F7-8A1E-BEB1C382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A0CE-6EFB-4DE1-9668-B05A3794E1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4919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C2E7B7-D8E3-92BF-85E5-1827A80A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F95973-0442-0377-F51B-5CB6362E57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F9F4C2-23FA-3A58-A454-D0310E511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25CFD1-018E-2AF9-5F1D-89A9826F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607F-B7BC-410C-AC3D-0EF1890BF10A}" type="datetimeFigureOut">
              <a:rPr lang="es-ES" smtClean="0"/>
              <a:t>26/04/2026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B95B6B-4C66-38CE-88CD-5751527EA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12CAD7-73C8-F569-3F3A-BFC8BB32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A0CE-6EFB-4DE1-9668-B05A3794E1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3172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46F91-A6F0-2645-9C73-39C60CEE4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58A8C7-B9E3-F16A-FB87-A15104EA0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F49F3C-D9F7-4068-8B60-A06141F32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5027FE-70F1-FEB8-8B3F-327BB16EF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77127B7-5F00-2D20-37E8-672437D1E3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5486765-E21E-44A2-8CB8-128F88580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607F-B7BC-410C-AC3D-0EF1890BF10A}" type="datetimeFigureOut">
              <a:rPr lang="es-ES" smtClean="0"/>
              <a:t>26/04/2026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D31CDA0-BB1B-5100-853B-3061E7AF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20F551E-9BA9-808A-1286-627464DF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A0CE-6EFB-4DE1-9668-B05A3794E1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7368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F0723-275E-DB6D-DEC3-2704FF44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0DB025-C940-FEE9-B639-18F057EA6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607F-B7BC-410C-AC3D-0EF1890BF10A}" type="datetimeFigureOut">
              <a:rPr lang="es-ES" smtClean="0"/>
              <a:t>26/04/2026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C459802-CFCA-52F4-2292-7721A46E0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ABAA56-7747-4805-40EE-D7B395202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A0CE-6EFB-4DE1-9668-B05A3794E1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627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E52A36-A9D4-A2BE-9140-73E74390D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607F-B7BC-410C-AC3D-0EF1890BF10A}" type="datetimeFigureOut">
              <a:rPr lang="es-ES" smtClean="0"/>
              <a:t>26/04/2026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D7F319-00DA-53A2-76D6-2B028E71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BD5937-98FF-E868-A831-A827E78A9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A0CE-6EFB-4DE1-9668-B05A3794E1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494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15B77-2061-BB7F-34DD-994CFDA63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546085-0FFB-E46E-57EC-A5115F983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13F9F3-E7B6-562F-011D-9945E2C6D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A9064C-E240-DCD6-7965-DF39769FD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607F-B7BC-410C-AC3D-0EF1890BF10A}" type="datetimeFigureOut">
              <a:rPr lang="es-ES" smtClean="0"/>
              <a:t>26/04/2026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E7A3AC-6C76-15E3-F884-5A3F9C1D8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E5F5DB-C7DD-8168-B136-1B3B2D794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A0CE-6EFB-4DE1-9668-B05A3794E1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706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1AD22D-92B0-92F5-6818-43F1A2F43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354CE59-64FE-F170-A9AA-96242F2DD6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490607-5E9E-DEC9-0119-2D85DFD92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FD6CFF-928D-D7FB-0B2B-438FAA464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607F-B7BC-410C-AC3D-0EF1890BF10A}" type="datetimeFigureOut">
              <a:rPr lang="es-ES" smtClean="0"/>
              <a:t>26/04/2026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5EB9BF-1A92-021B-FCCD-384732AD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646FFC-F056-2373-F08A-CF63A2E36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A0CE-6EFB-4DE1-9668-B05A3794E1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9245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3EC60-D7AF-2A4A-54FC-8A17E6225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1A0AC91-AC8B-DFEC-F4CD-804C05E88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1010CB-3E52-2944-3DC3-DA4E17851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607F-B7BC-410C-AC3D-0EF1890BF10A}" type="datetimeFigureOut">
              <a:rPr lang="es-ES" smtClean="0"/>
              <a:t>26/04/2026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2C9A75-86E1-FDB5-627E-2264792E4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A24D3A-87FE-7D33-4B19-B96AE832F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A0CE-6EFB-4DE1-9668-B05A3794E1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718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305875-3847-4125-353A-A47528D67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C545C15-F02A-0025-7C18-BE7FDE3D3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24DBE8-5841-7761-9C20-0008100A3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607F-B7BC-410C-AC3D-0EF1890BF10A}" type="datetimeFigureOut">
              <a:rPr lang="es-ES" smtClean="0"/>
              <a:t>26/04/2026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6B1D43-C6AC-EBB9-A94A-AD51E2981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12098F-41C4-D2AD-55B1-29B6E94DA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A0CE-6EFB-4DE1-9668-B05A3794E1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1144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B35E440-1A1F-CE3E-7AE6-CD4478AA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7BB211-9EEE-E3B2-AC8A-DAFA7BDB1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1448F4-E862-0432-0C9F-62E83E5DA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6607F-B7BC-410C-AC3D-0EF1890BF10A}" type="datetimeFigureOut">
              <a:rPr lang="es-ES" smtClean="0"/>
              <a:t>26/04/2026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65F004-6CFD-5618-5D88-0C3F5338A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91A743-68D6-C46C-7839-D2948A0E4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2A0CE-6EFB-4DE1-9668-B05A3794E1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8790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29E6E567-0BFE-37A4-D677-B893B1FAFAE7}"/>
              </a:ext>
            </a:extLst>
          </p:cNvPr>
          <p:cNvSpPr/>
          <p:nvPr/>
        </p:nvSpPr>
        <p:spPr>
          <a:xfrm>
            <a:off x="9525000" y="-1460500"/>
            <a:ext cx="4191000" cy="4191000"/>
          </a:xfrm>
          <a:prstGeom prst="ellipse">
            <a:avLst/>
          </a:prstGeom>
          <a:solidFill>
            <a:srgbClr val="EEE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86713892-6510-8DCB-F71B-D5175E4725C3}"/>
              </a:ext>
            </a:extLst>
          </p:cNvPr>
          <p:cNvSpPr/>
          <p:nvPr/>
        </p:nvSpPr>
        <p:spPr>
          <a:xfrm>
            <a:off x="-1460500" y="4826000"/>
            <a:ext cx="3683000" cy="3683000"/>
          </a:xfrm>
          <a:prstGeom prst="ellipse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17C7FAE-C6AE-F9E5-57ED-2B9DD2FD02F7}"/>
              </a:ext>
            </a:extLst>
          </p:cNvPr>
          <p:cNvSpPr/>
          <p:nvPr/>
        </p:nvSpPr>
        <p:spPr>
          <a:xfrm>
            <a:off x="10033000" y="5842000"/>
            <a:ext cx="1270000" cy="1778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79E0336D-BF74-DEE3-37DB-8381149FF5D1}"/>
              </a:ext>
            </a:extLst>
          </p:cNvPr>
          <p:cNvSpPr/>
          <p:nvPr/>
        </p:nvSpPr>
        <p:spPr>
          <a:xfrm>
            <a:off x="8509000" y="5842000"/>
            <a:ext cx="1270000" cy="177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43349E0-7CF7-F9B4-5061-454525FB34D1}"/>
              </a:ext>
            </a:extLst>
          </p:cNvPr>
          <p:cNvSpPr/>
          <p:nvPr/>
        </p:nvSpPr>
        <p:spPr>
          <a:xfrm>
            <a:off x="698500" y="533400"/>
            <a:ext cx="38100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Complementos de Bases de Datos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DE0BE52-3CED-A730-770D-C03AFE6A83B0}"/>
              </a:ext>
            </a:extLst>
          </p:cNvPr>
          <p:cNvSpPr txBox="1"/>
          <p:nvPr/>
        </p:nvSpPr>
        <p:spPr>
          <a:xfrm>
            <a:off x="698500" y="1397000"/>
            <a:ext cx="7239000" cy="116955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800" b="1">
                <a:solidFill>
                  <a:srgbClr val="191821"/>
                </a:solidFill>
                <a:latin typeface="Aptos Display" panose="020B0004020202020204" pitchFamily="34" charset="0"/>
              </a:rPr>
              <a:t>Sistema de Gestión</a:t>
            </a:r>
          </a:p>
          <a:p>
            <a:r>
              <a:rPr lang="es-ES" sz="3800" b="1">
                <a:solidFill>
                  <a:srgbClr val="191821"/>
                </a:solidFill>
                <a:latin typeface="Aptos Display" panose="020B0004020202020204" pitchFamily="34" charset="0"/>
              </a:rPr>
              <a:t>y Reservas a Medida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B811798-C3E5-6F2B-C646-07690E7896C4}"/>
              </a:ext>
            </a:extLst>
          </p:cNvPr>
          <p:cNvSpPr txBox="1"/>
          <p:nvPr/>
        </p:nvSpPr>
        <p:spPr>
          <a:xfrm>
            <a:off x="736600" y="3149600"/>
            <a:ext cx="711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>
                <a:solidFill>
                  <a:srgbClr val="696776"/>
                </a:solidFill>
                <a:latin typeface="Aptos" panose="020B0004020202020204" pitchFamily="34" charset="0"/>
              </a:rPr>
              <a:t>Plataforma web integral para peluquería y centro de estética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58399B9-71EC-D63F-FCA0-24F6607DE7BC}"/>
              </a:ext>
            </a:extLst>
          </p:cNvPr>
          <p:cNvSpPr/>
          <p:nvPr/>
        </p:nvSpPr>
        <p:spPr>
          <a:xfrm>
            <a:off x="8255000" y="1333500"/>
            <a:ext cx="3048000" cy="3175000"/>
          </a:xfrm>
          <a:prstGeom prst="roundRect">
            <a:avLst/>
          </a:prstGeom>
          <a:solidFill>
            <a:srgbClr val="FFFFFF"/>
          </a:solidFill>
          <a:ln>
            <a:solidFill>
              <a:srgbClr val="E6E1F4"/>
            </a:solidFill>
          </a:ln>
          <a:effectLst>
            <a:outerShdw blurRad="203200" dist="68775" dir="404479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044175D-59A3-6735-A801-C13A6593A5B4}"/>
              </a:ext>
            </a:extLst>
          </p:cNvPr>
          <p:cNvSpPr/>
          <p:nvPr/>
        </p:nvSpPr>
        <p:spPr>
          <a:xfrm>
            <a:off x="8534400" y="4064000"/>
            <a:ext cx="2489200" cy="1016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070CD3C-B85A-73C4-9DBF-4555C5080090}"/>
              </a:ext>
            </a:extLst>
          </p:cNvPr>
          <p:cNvSpPr/>
          <p:nvPr/>
        </p:nvSpPr>
        <p:spPr>
          <a:xfrm>
            <a:off x="9144000" y="1714500"/>
            <a:ext cx="1270000" cy="12700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>
                <a:solidFill>
                  <a:srgbClr val="7C3AED"/>
                </a:solidFill>
                <a:latin typeface="Aptos Display" panose="020B0004020202020204" pitchFamily="34" charset="0"/>
              </a:rPr>
              <a:t>APP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4C75C05-11F1-D64D-CCBE-C7B35B8BA7A3}"/>
              </a:ext>
            </a:extLst>
          </p:cNvPr>
          <p:cNvSpPr txBox="1"/>
          <p:nvPr/>
        </p:nvSpPr>
        <p:spPr>
          <a:xfrm>
            <a:off x="8636000" y="3302000"/>
            <a:ext cx="24130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191821"/>
                </a:solidFill>
                <a:latin typeface="Aptos" panose="020B0004020202020204" pitchFamily="34" charset="0"/>
              </a:rPr>
              <a:t>Portal de reservas</a:t>
            </a:r>
          </a:p>
          <a:p>
            <a:r>
              <a:rPr lang="es-ES" sz="1600">
                <a:solidFill>
                  <a:srgbClr val="191821"/>
                </a:solidFill>
                <a:latin typeface="Aptos" panose="020B0004020202020204" pitchFamily="34" charset="0"/>
              </a:rPr>
              <a:t>Panel de administración</a:t>
            </a:r>
          </a:p>
          <a:p>
            <a:r>
              <a:rPr lang="es-ES" sz="1600">
                <a:solidFill>
                  <a:srgbClr val="191821"/>
                </a:solidFill>
                <a:latin typeface="Aptos" panose="020B0004020202020204" pitchFamily="34" charset="0"/>
              </a:rPr>
              <a:t>Motor de disponibilidad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556B7B0-3FDC-3A92-3C3A-D2392D11A7B5}"/>
              </a:ext>
            </a:extLst>
          </p:cNvPr>
          <p:cNvSpPr txBox="1"/>
          <p:nvPr/>
        </p:nvSpPr>
        <p:spPr>
          <a:xfrm>
            <a:off x="698500" y="6375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1100">
                <a:solidFill>
                  <a:srgbClr val="696776"/>
                </a:solidFill>
                <a:latin typeface="Aptos" panose="020B0004020202020204" pitchFamily="34" charset="0"/>
              </a:rPr>
              <a:t>Joaquín Borja León · Ariel Escobar Capilla</a:t>
            </a:r>
          </a:p>
        </p:txBody>
      </p:sp>
    </p:spTree>
    <p:extLst>
      <p:ext uri="{BB962C8B-B14F-4D97-AF65-F5344CB8AC3E}">
        <p14:creationId xmlns:p14="http://schemas.microsoft.com/office/powerpoint/2010/main" val="2496972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7BB455AB-6C1D-C760-220D-AA4C55A355EA}"/>
              </a:ext>
            </a:extLst>
          </p:cNvPr>
          <p:cNvSpPr/>
          <p:nvPr/>
        </p:nvSpPr>
        <p:spPr>
          <a:xfrm>
            <a:off x="9525000" y="-1460500"/>
            <a:ext cx="4191000" cy="4191000"/>
          </a:xfrm>
          <a:prstGeom prst="ellipse">
            <a:avLst/>
          </a:prstGeom>
          <a:solidFill>
            <a:srgbClr val="EEE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DA32094-EAA4-9D7D-1842-D098AD48D916}"/>
              </a:ext>
            </a:extLst>
          </p:cNvPr>
          <p:cNvSpPr/>
          <p:nvPr/>
        </p:nvSpPr>
        <p:spPr>
          <a:xfrm>
            <a:off x="-1460500" y="4826000"/>
            <a:ext cx="3683000" cy="3683000"/>
          </a:xfrm>
          <a:prstGeom prst="ellipse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51E44FA-B522-2216-9048-68A122FE3E39}"/>
              </a:ext>
            </a:extLst>
          </p:cNvPr>
          <p:cNvSpPr/>
          <p:nvPr/>
        </p:nvSpPr>
        <p:spPr>
          <a:xfrm>
            <a:off x="10033000" y="5842000"/>
            <a:ext cx="1270000" cy="1778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4AAE11C-4F1D-BE01-0C06-C02D2B094619}"/>
              </a:ext>
            </a:extLst>
          </p:cNvPr>
          <p:cNvSpPr/>
          <p:nvPr/>
        </p:nvSpPr>
        <p:spPr>
          <a:xfrm>
            <a:off x="8509000" y="5842000"/>
            <a:ext cx="1270000" cy="177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44951CE-9A32-65C0-BF05-ADD871FAF0F8}"/>
              </a:ext>
            </a:extLst>
          </p:cNvPr>
          <p:cNvSpPr/>
          <p:nvPr/>
        </p:nvSpPr>
        <p:spPr>
          <a:xfrm>
            <a:off x="698500" y="444500"/>
            <a:ext cx="7366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749C16D-C039-3CE5-9A4C-3339E7FC66E8}"/>
              </a:ext>
            </a:extLst>
          </p:cNvPr>
          <p:cNvSpPr txBox="1"/>
          <p:nvPr/>
        </p:nvSpPr>
        <p:spPr>
          <a:xfrm>
            <a:off x="698500" y="914400"/>
            <a:ext cx="965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191821"/>
                </a:solidFill>
                <a:latin typeface="Aptos Display" panose="020B0004020202020204" pitchFamily="34" charset="0"/>
              </a:rPr>
              <a:t>Contexto y problema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402EE71-A08B-7F3A-9E57-F548F971F919}"/>
              </a:ext>
            </a:extLst>
          </p:cNvPr>
          <p:cNvSpPr txBox="1"/>
          <p:nvPr/>
        </p:nvSpPr>
        <p:spPr>
          <a:xfrm>
            <a:off x="736600" y="1587500"/>
            <a:ext cx="1041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>
                <a:solidFill>
                  <a:srgbClr val="696776"/>
                </a:solidFill>
                <a:latin typeface="Aptos" panose="020B0004020202020204" pitchFamily="34" charset="0"/>
              </a:rPr>
              <a:t>Un negocio local necesita digitalizar la gestión diaria sin depender de soluciones genéricas y costosas.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B198C22-F7D3-BAA1-F302-9EEC6318D431}"/>
              </a:ext>
            </a:extLst>
          </p:cNvPr>
          <p:cNvSpPr/>
          <p:nvPr/>
        </p:nvSpPr>
        <p:spPr>
          <a:xfrm>
            <a:off x="762000" y="1968500"/>
            <a:ext cx="4953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52400" dist="57257" dir="3751567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EF5C738-4501-C7FF-C452-FEF1388CDC29}"/>
              </a:ext>
            </a:extLst>
          </p:cNvPr>
          <p:cNvSpPr/>
          <p:nvPr/>
        </p:nvSpPr>
        <p:spPr>
          <a:xfrm>
            <a:off x="1016000" y="2311400"/>
            <a:ext cx="711200" cy="7112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>
                <a:solidFill>
                  <a:srgbClr val="7C3AED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0C3BC55-5214-F6C0-DE92-4BAB09B9BB12}"/>
              </a:ext>
            </a:extLst>
          </p:cNvPr>
          <p:cNvSpPr txBox="1"/>
          <p:nvPr/>
        </p:nvSpPr>
        <p:spPr>
          <a:xfrm>
            <a:off x="1968500" y="2286000"/>
            <a:ext cx="34925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900" b="1">
                <a:solidFill>
                  <a:srgbClr val="191821"/>
                </a:solidFill>
                <a:latin typeface="Aptos Display" panose="020B0004020202020204" pitchFamily="34" charset="0"/>
              </a:rPr>
              <a:t>Tiempo perdido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3291696-B9C5-4334-EBFD-74845DFF21B2}"/>
              </a:ext>
            </a:extLst>
          </p:cNvPr>
          <p:cNvSpPr txBox="1"/>
          <p:nvPr/>
        </p:nvSpPr>
        <p:spPr>
          <a:xfrm>
            <a:off x="1968500" y="2794000"/>
            <a:ext cx="342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696776"/>
                </a:solidFill>
                <a:latin typeface="Aptos" panose="020B0004020202020204" pitchFamily="34" charset="0"/>
              </a:rPr>
              <a:t>Llamadas y WhatsApp interrumpen el trabajo diario.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BC27B56-6132-8889-EB08-6D4A834BFB98}"/>
              </a:ext>
            </a:extLst>
          </p:cNvPr>
          <p:cNvSpPr/>
          <p:nvPr/>
        </p:nvSpPr>
        <p:spPr>
          <a:xfrm>
            <a:off x="6477000" y="1968500"/>
            <a:ext cx="4953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52400" dist="57257" dir="3751567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1493EEE-3077-0747-5CCD-20E1BB733A7A}"/>
              </a:ext>
            </a:extLst>
          </p:cNvPr>
          <p:cNvSpPr/>
          <p:nvPr/>
        </p:nvSpPr>
        <p:spPr>
          <a:xfrm>
            <a:off x="6731000" y="2311400"/>
            <a:ext cx="711200" cy="7112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>
                <a:solidFill>
                  <a:srgbClr val="10B981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6BEB0AF-7514-154E-450C-D12864A30906}"/>
              </a:ext>
            </a:extLst>
          </p:cNvPr>
          <p:cNvSpPr txBox="1"/>
          <p:nvPr/>
        </p:nvSpPr>
        <p:spPr>
          <a:xfrm>
            <a:off x="7683500" y="2286000"/>
            <a:ext cx="34925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900" b="1">
                <a:solidFill>
                  <a:srgbClr val="191821"/>
                </a:solidFill>
                <a:latin typeface="Aptos Display" panose="020B0004020202020204" pitchFamily="34" charset="0"/>
              </a:rPr>
              <a:t>Historial disperso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A55202B-6E64-8D6D-E740-E5540A9F44AF}"/>
              </a:ext>
            </a:extLst>
          </p:cNvPr>
          <p:cNvSpPr txBox="1"/>
          <p:nvPr/>
        </p:nvSpPr>
        <p:spPr>
          <a:xfrm>
            <a:off x="7683500" y="2794000"/>
            <a:ext cx="342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696776"/>
                </a:solidFill>
                <a:latin typeface="Aptos" panose="020B0004020202020204" pitchFamily="34" charset="0"/>
              </a:rPr>
              <a:t>Notas técnicas, preferencias y alergias no quedan centralizadas.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F7FBB9F2-3939-522A-8581-94DA746488ED}"/>
              </a:ext>
            </a:extLst>
          </p:cNvPr>
          <p:cNvSpPr/>
          <p:nvPr/>
        </p:nvSpPr>
        <p:spPr>
          <a:xfrm>
            <a:off x="762000" y="3873500"/>
            <a:ext cx="4953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52400" dist="57257" dir="3751567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6F96B2F-EC12-E47F-23E9-C1C6A25F77D7}"/>
              </a:ext>
            </a:extLst>
          </p:cNvPr>
          <p:cNvSpPr/>
          <p:nvPr/>
        </p:nvSpPr>
        <p:spPr>
          <a:xfrm>
            <a:off x="1016000" y="4216400"/>
            <a:ext cx="711200" cy="7112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>
                <a:solidFill>
                  <a:srgbClr val="7C3AED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021DB3B-ABC3-570A-B0FB-C8F3F4B86C51}"/>
              </a:ext>
            </a:extLst>
          </p:cNvPr>
          <p:cNvSpPr txBox="1"/>
          <p:nvPr/>
        </p:nvSpPr>
        <p:spPr>
          <a:xfrm>
            <a:off x="1968500" y="4191000"/>
            <a:ext cx="34925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900" b="1">
                <a:solidFill>
                  <a:srgbClr val="191821"/>
                </a:solidFill>
                <a:latin typeface="Aptos Display" panose="020B0004020202020204" pitchFamily="34" charset="0"/>
              </a:rPr>
              <a:t>Errores humanos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AD2334F-6150-9D7C-725D-A4D19FE02B46}"/>
              </a:ext>
            </a:extLst>
          </p:cNvPr>
          <p:cNvSpPr txBox="1"/>
          <p:nvPr/>
        </p:nvSpPr>
        <p:spPr>
          <a:xfrm>
            <a:off x="1968500" y="4699000"/>
            <a:ext cx="342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696776"/>
                </a:solidFill>
                <a:latin typeface="Aptos" panose="020B0004020202020204" pitchFamily="34" charset="0"/>
              </a:rPr>
              <a:t>Riesgo de solapamientos, huecos libres y pérdida de control.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02A8B301-5A67-439B-CCAA-B4769B919C35}"/>
              </a:ext>
            </a:extLst>
          </p:cNvPr>
          <p:cNvSpPr/>
          <p:nvPr/>
        </p:nvSpPr>
        <p:spPr>
          <a:xfrm>
            <a:off x="6477000" y="3873500"/>
            <a:ext cx="4953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52400" dist="57257" dir="3751567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432E946-CA2A-BF46-95E4-BA155BDB1679}"/>
              </a:ext>
            </a:extLst>
          </p:cNvPr>
          <p:cNvSpPr/>
          <p:nvPr/>
        </p:nvSpPr>
        <p:spPr>
          <a:xfrm>
            <a:off x="6731000" y="4216400"/>
            <a:ext cx="711200" cy="7112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>
                <a:solidFill>
                  <a:srgbClr val="10B981"/>
                </a:solidFill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FE9DC71-0B6E-A012-7937-BE7F0CCD8F62}"/>
              </a:ext>
            </a:extLst>
          </p:cNvPr>
          <p:cNvSpPr txBox="1"/>
          <p:nvPr/>
        </p:nvSpPr>
        <p:spPr>
          <a:xfrm>
            <a:off x="7683500" y="4191000"/>
            <a:ext cx="34925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900" b="1">
                <a:solidFill>
                  <a:srgbClr val="191821"/>
                </a:solidFill>
                <a:latin typeface="Aptos Display" panose="020B0004020202020204" pitchFamily="34" charset="0"/>
              </a:rPr>
              <a:t>Sin métricas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B11108F-CAE1-E560-5CE7-D60EA1875126}"/>
              </a:ext>
            </a:extLst>
          </p:cNvPr>
          <p:cNvSpPr txBox="1"/>
          <p:nvPr/>
        </p:nvSpPr>
        <p:spPr>
          <a:xfrm>
            <a:off x="7683500" y="4699000"/>
            <a:ext cx="342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696776"/>
                </a:solidFill>
                <a:latin typeface="Aptos" panose="020B0004020202020204" pitchFamily="34" charset="0"/>
              </a:rPr>
              <a:t>No hay visión clara de citas, facturación o servicios más demandados.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A0B26276-A8C5-9CED-E939-260033885858}"/>
              </a:ext>
            </a:extLst>
          </p:cNvPr>
          <p:cNvSpPr/>
          <p:nvPr/>
        </p:nvSpPr>
        <p:spPr>
          <a:xfrm>
            <a:off x="1016000" y="5842000"/>
            <a:ext cx="10160000" cy="635000"/>
          </a:xfrm>
          <a:prstGeom prst="roundRect">
            <a:avLst/>
          </a:prstGeom>
          <a:solidFill>
            <a:srgbClr val="FFFFFF"/>
          </a:solidFill>
          <a:ln>
            <a:solidFill>
              <a:srgbClr val="E6E1F4"/>
            </a:solidFill>
          </a:ln>
          <a:effectLst>
            <a:outerShdw blurRad="127000" dist="37357" dir="2700000" rotWithShape="0">
              <a:scrgbClr r="0" g="0" b="0">
                <a:alpha val="12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Ins="254000" rtlCol="0" anchor="ctr"/>
          <a:lstStyle/>
          <a:p>
            <a:pPr algn="ctr"/>
            <a:r>
              <a:rPr lang="es-ES" b="1">
                <a:solidFill>
                  <a:srgbClr val="291947"/>
                </a:solidFill>
                <a:latin typeface="Aptos Display" panose="020B0004020202020204" pitchFamily="34" charset="0"/>
              </a:rPr>
              <a:t>Reto principal: transformar una gestión manual en una plataforma web sencilla, controlada y adaptada al negocio.</a:t>
            </a:r>
          </a:p>
        </p:txBody>
      </p:sp>
    </p:spTree>
    <p:extLst>
      <p:ext uri="{BB962C8B-B14F-4D97-AF65-F5344CB8AC3E}">
        <p14:creationId xmlns:p14="http://schemas.microsoft.com/office/powerpoint/2010/main" val="2445958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58F254EC-5530-3AC5-3652-279A89228CA3}"/>
              </a:ext>
            </a:extLst>
          </p:cNvPr>
          <p:cNvSpPr/>
          <p:nvPr/>
        </p:nvSpPr>
        <p:spPr>
          <a:xfrm>
            <a:off x="9525000" y="-1460500"/>
            <a:ext cx="4191000" cy="4191000"/>
          </a:xfrm>
          <a:prstGeom prst="ellipse">
            <a:avLst/>
          </a:prstGeom>
          <a:solidFill>
            <a:srgbClr val="EEE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A861086-BA8A-2698-53EA-96010DE57FF9}"/>
              </a:ext>
            </a:extLst>
          </p:cNvPr>
          <p:cNvSpPr/>
          <p:nvPr/>
        </p:nvSpPr>
        <p:spPr>
          <a:xfrm>
            <a:off x="-1460500" y="4826000"/>
            <a:ext cx="3683000" cy="3683000"/>
          </a:xfrm>
          <a:prstGeom prst="ellipse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A627632-CEE7-6750-C5B4-CFDF8B168F7E}"/>
              </a:ext>
            </a:extLst>
          </p:cNvPr>
          <p:cNvSpPr/>
          <p:nvPr/>
        </p:nvSpPr>
        <p:spPr>
          <a:xfrm>
            <a:off x="10033000" y="5842000"/>
            <a:ext cx="1270000" cy="1778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7C4670A1-2287-D043-F047-287C7425046C}"/>
              </a:ext>
            </a:extLst>
          </p:cNvPr>
          <p:cNvSpPr/>
          <p:nvPr/>
        </p:nvSpPr>
        <p:spPr>
          <a:xfrm>
            <a:off x="8509000" y="5842000"/>
            <a:ext cx="1270000" cy="177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8294113-768E-912A-E84D-C8F58B6C56E2}"/>
              </a:ext>
            </a:extLst>
          </p:cNvPr>
          <p:cNvSpPr/>
          <p:nvPr/>
        </p:nvSpPr>
        <p:spPr>
          <a:xfrm>
            <a:off x="698500" y="444500"/>
            <a:ext cx="7366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18D1514-D8FF-62DE-0749-6FA41560C064}"/>
              </a:ext>
            </a:extLst>
          </p:cNvPr>
          <p:cNvSpPr txBox="1"/>
          <p:nvPr/>
        </p:nvSpPr>
        <p:spPr>
          <a:xfrm>
            <a:off x="698500" y="914400"/>
            <a:ext cx="965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191821"/>
                </a:solidFill>
                <a:latin typeface="Aptos Display" panose="020B0004020202020204" pitchFamily="34" charset="0"/>
              </a:rPr>
              <a:t>Objetivo del proyecto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B20E445-EAA7-5139-4257-95535CEEE2EC}"/>
              </a:ext>
            </a:extLst>
          </p:cNvPr>
          <p:cNvSpPr txBox="1"/>
          <p:nvPr/>
        </p:nvSpPr>
        <p:spPr>
          <a:xfrm>
            <a:off x="736600" y="1587500"/>
            <a:ext cx="1041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>
                <a:solidFill>
                  <a:srgbClr val="696776"/>
                </a:solidFill>
                <a:latin typeface="Aptos" panose="020B0004020202020204" pitchFamily="34" charset="0"/>
              </a:rPr>
              <a:t>Crear una solución web completa para clientes y administradores.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56D9FC0-55F5-D73D-03EB-C1EAAE3071BF}"/>
              </a:ext>
            </a:extLst>
          </p:cNvPr>
          <p:cNvSpPr/>
          <p:nvPr/>
        </p:nvSpPr>
        <p:spPr>
          <a:xfrm>
            <a:off x="2413000" y="1778000"/>
            <a:ext cx="7366000" cy="6096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>
                <a:solidFill>
                  <a:srgbClr val="FFFFFF"/>
                </a:solidFill>
                <a:latin typeface="Aptos Display" panose="020B0004020202020204" pitchFamily="34" charset="0"/>
              </a:rPr>
              <a:t>DIGITALIZAR LA GESTIÓN COMPLETA DEL NEGOCIO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4DB1D8D-BC69-7BD6-0DD1-C214FE2E5F0A}"/>
              </a:ext>
            </a:extLst>
          </p:cNvPr>
          <p:cNvSpPr/>
          <p:nvPr/>
        </p:nvSpPr>
        <p:spPr>
          <a:xfrm>
            <a:off x="1016000" y="3111500"/>
            <a:ext cx="4826000" cy="26670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77800" dist="57257" dir="3751567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E07865C-3645-3192-930B-91B58698E67A}"/>
              </a:ext>
            </a:extLst>
          </p:cNvPr>
          <p:cNvSpPr/>
          <p:nvPr/>
        </p:nvSpPr>
        <p:spPr>
          <a:xfrm>
            <a:off x="1333500" y="3429000"/>
            <a:ext cx="736600" cy="7366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>
                <a:solidFill>
                  <a:srgbClr val="10B981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1C60A04-0712-35CF-C606-95EE0FEB685D}"/>
              </a:ext>
            </a:extLst>
          </p:cNvPr>
          <p:cNvSpPr txBox="1"/>
          <p:nvPr/>
        </p:nvSpPr>
        <p:spPr>
          <a:xfrm>
            <a:off x="2286000" y="3492500"/>
            <a:ext cx="330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200" b="1">
                <a:solidFill>
                  <a:srgbClr val="191821"/>
                </a:solidFill>
                <a:latin typeface="Aptos Display" panose="020B0004020202020204" pitchFamily="34" charset="0"/>
              </a:rPr>
              <a:t>Portal de reservas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C713C97-D64A-241C-2A57-618EC31BE6D8}"/>
              </a:ext>
            </a:extLst>
          </p:cNvPr>
          <p:cNvSpPr/>
          <p:nvPr/>
        </p:nvSpPr>
        <p:spPr>
          <a:xfrm>
            <a:off x="2286000" y="4000500"/>
            <a:ext cx="1651000" cy="3302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10B981"/>
                </a:solidFill>
                <a:latin typeface="Aptos" panose="020B0004020202020204" pitchFamily="34" charset="0"/>
              </a:rPr>
              <a:t>Cliente final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054665B-6797-F388-F13D-E53FA0BDEB58}"/>
              </a:ext>
            </a:extLst>
          </p:cNvPr>
          <p:cNvSpPr txBox="1"/>
          <p:nvPr/>
        </p:nvSpPr>
        <p:spPr>
          <a:xfrm>
            <a:off x="1460500" y="4572000"/>
            <a:ext cx="3937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464452"/>
                </a:solidFill>
                <a:latin typeface="Aptos" panose="020B0004020202020204" pitchFamily="34" charset="0"/>
              </a:rPr>
              <a:t>Consulta servicios</a:t>
            </a:r>
          </a:p>
          <a:p>
            <a:r>
              <a:rPr lang="es-ES" sz="1500">
                <a:solidFill>
                  <a:srgbClr val="464452"/>
                </a:solidFill>
                <a:latin typeface="Aptos" panose="020B0004020202020204" pitchFamily="34" charset="0"/>
              </a:rPr>
              <a:t>Visualiza disponibilidad real</a:t>
            </a:r>
          </a:p>
          <a:p>
            <a:r>
              <a:rPr lang="es-ES" sz="1500">
                <a:solidFill>
                  <a:srgbClr val="464452"/>
                </a:solidFill>
                <a:latin typeface="Aptos" panose="020B0004020202020204" pitchFamily="34" charset="0"/>
              </a:rPr>
              <a:t>Reserva en tres pasos</a:t>
            </a:r>
          </a:p>
          <a:p>
            <a:r>
              <a:rPr lang="es-ES" sz="1500">
                <a:solidFill>
                  <a:srgbClr val="464452"/>
                </a:solidFill>
                <a:latin typeface="Aptos" panose="020B0004020202020204" pitchFamily="34" charset="0"/>
              </a:rPr>
              <a:t>Gestiona o cancela sus citas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384D9E1-B5A0-488E-5264-94026BBD4A71}"/>
              </a:ext>
            </a:extLst>
          </p:cNvPr>
          <p:cNvSpPr/>
          <p:nvPr/>
        </p:nvSpPr>
        <p:spPr>
          <a:xfrm>
            <a:off x="6350000" y="3111500"/>
            <a:ext cx="4826000" cy="26670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77800" dist="57257" dir="3751567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9456241-B9BD-AECA-F0D1-0B83740EF993}"/>
              </a:ext>
            </a:extLst>
          </p:cNvPr>
          <p:cNvSpPr/>
          <p:nvPr/>
        </p:nvSpPr>
        <p:spPr>
          <a:xfrm>
            <a:off x="6667500" y="3429000"/>
            <a:ext cx="736600" cy="7366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>
                <a:solidFill>
                  <a:srgbClr val="7C3AED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1BC8732-8247-2F49-12BB-FF1DFEE498E7}"/>
              </a:ext>
            </a:extLst>
          </p:cNvPr>
          <p:cNvSpPr txBox="1"/>
          <p:nvPr/>
        </p:nvSpPr>
        <p:spPr>
          <a:xfrm>
            <a:off x="7620000" y="3492500"/>
            <a:ext cx="330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200" b="1">
                <a:solidFill>
                  <a:srgbClr val="191821"/>
                </a:solidFill>
                <a:latin typeface="Aptos Display" panose="020B0004020202020204" pitchFamily="34" charset="0"/>
              </a:rPr>
              <a:t>Panel de administración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6E0A2EC6-8AEB-907B-7127-17A9CCA9BD70}"/>
              </a:ext>
            </a:extLst>
          </p:cNvPr>
          <p:cNvSpPr/>
          <p:nvPr/>
        </p:nvSpPr>
        <p:spPr>
          <a:xfrm>
            <a:off x="7620000" y="4000500"/>
            <a:ext cx="1651000" cy="3302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Negocio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F6526D0-F616-5697-AFB1-052ECEC749B9}"/>
              </a:ext>
            </a:extLst>
          </p:cNvPr>
          <p:cNvSpPr txBox="1"/>
          <p:nvPr/>
        </p:nvSpPr>
        <p:spPr>
          <a:xfrm>
            <a:off x="6794500" y="4572000"/>
            <a:ext cx="3937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464452"/>
                </a:solidFill>
                <a:latin typeface="Aptos" panose="020B0004020202020204" pitchFamily="34" charset="0"/>
              </a:rPr>
              <a:t>Agenda visual</a:t>
            </a:r>
          </a:p>
          <a:p>
            <a:r>
              <a:rPr lang="es-ES" sz="1500">
                <a:solidFill>
                  <a:srgbClr val="464452"/>
                </a:solidFill>
                <a:latin typeface="Aptos" panose="020B0004020202020204" pitchFamily="34" charset="0"/>
              </a:rPr>
              <a:t>Clientes y notas técnicas</a:t>
            </a:r>
          </a:p>
          <a:p>
            <a:r>
              <a:rPr lang="es-ES" sz="1500">
                <a:solidFill>
                  <a:srgbClr val="464452"/>
                </a:solidFill>
                <a:latin typeface="Aptos" panose="020B0004020202020204" pitchFamily="34" charset="0"/>
              </a:rPr>
              <a:t>Servicios y profesionales</a:t>
            </a:r>
          </a:p>
          <a:p>
            <a:r>
              <a:rPr lang="es-ES" sz="1500">
                <a:solidFill>
                  <a:srgbClr val="464452"/>
                </a:solidFill>
                <a:latin typeface="Aptos" panose="020B0004020202020204" pitchFamily="34" charset="0"/>
              </a:rPr>
              <a:t>Bloqueos, horarios y ajustes</a:t>
            </a:r>
          </a:p>
        </p:txBody>
      </p:sp>
    </p:spTree>
    <p:extLst>
      <p:ext uri="{BB962C8B-B14F-4D97-AF65-F5344CB8AC3E}">
        <p14:creationId xmlns:p14="http://schemas.microsoft.com/office/powerpoint/2010/main" val="768666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710FA0AE-B78D-6D64-4D9B-6F77C9E9BD37}"/>
              </a:ext>
            </a:extLst>
          </p:cNvPr>
          <p:cNvSpPr/>
          <p:nvPr/>
        </p:nvSpPr>
        <p:spPr>
          <a:xfrm>
            <a:off x="9525000" y="-1460500"/>
            <a:ext cx="4191000" cy="4191000"/>
          </a:xfrm>
          <a:prstGeom prst="ellipse">
            <a:avLst/>
          </a:prstGeom>
          <a:solidFill>
            <a:srgbClr val="EEE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29E2220-C726-21BC-C77F-57C77128C60C}"/>
              </a:ext>
            </a:extLst>
          </p:cNvPr>
          <p:cNvSpPr/>
          <p:nvPr/>
        </p:nvSpPr>
        <p:spPr>
          <a:xfrm>
            <a:off x="-1460500" y="4826000"/>
            <a:ext cx="3683000" cy="3683000"/>
          </a:xfrm>
          <a:prstGeom prst="ellipse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2F534BE-9F32-010B-E1B6-6D1E5AAF5163}"/>
              </a:ext>
            </a:extLst>
          </p:cNvPr>
          <p:cNvSpPr/>
          <p:nvPr/>
        </p:nvSpPr>
        <p:spPr>
          <a:xfrm>
            <a:off x="10033000" y="5842000"/>
            <a:ext cx="1270000" cy="1778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D44246F-C9E8-66B1-6725-05837F7387B9}"/>
              </a:ext>
            </a:extLst>
          </p:cNvPr>
          <p:cNvSpPr/>
          <p:nvPr/>
        </p:nvSpPr>
        <p:spPr>
          <a:xfrm>
            <a:off x="8509000" y="5842000"/>
            <a:ext cx="1270000" cy="177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21E58F5-9052-4801-234C-C264170F19C7}"/>
              </a:ext>
            </a:extLst>
          </p:cNvPr>
          <p:cNvSpPr/>
          <p:nvPr/>
        </p:nvSpPr>
        <p:spPr>
          <a:xfrm>
            <a:off x="698500" y="444500"/>
            <a:ext cx="7366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30404F1-DE51-94D7-430B-63B8D295FDE8}"/>
              </a:ext>
            </a:extLst>
          </p:cNvPr>
          <p:cNvSpPr txBox="1"/>
          <p:nvPr/>
        </p:nvSpPr>
        <p:spPr>
          <a:xfrm>
            <a:off x="698500" y="914400"/>
            <a:ext cx="965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191821"/>
                </a:solidFill>
                <a:latin typeface="Aptos Display" panose="020B0004020202020204" pitchFamily="34" charset="0"/>
              </a:rPr>
              <a:t>Solución propuesta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346C67-E6A0-5E52-B333-D0281858D559}"/>
              </a:ext>
            </a:extLst>
          </p:cNvPr>
          <p:cNvSpPr txBox="1"/>
          <p:nvPr/>
        </p:nvSpPr>
        <p:spPr>
          <a:xfrm>
            <a:off x="736600" y="1587500"/>
            <a:ext cx="1041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>
                <a:solidFill>
                  <a:srgbClr val="696776"/>
                </a:solidFill>
                <a:latin typeface="Aptos" panose="020B0004020202020204" pitchFamily="34" charset="0"/>
              </a:rPr>
              <a:t>Dos módulos conectados por una API REST y una base de datos MongoDB.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E5EA715-D07D-0A72-B06B-A105380F5C56}"/>
              </a:ext>
            </a:extLst>
          </p:cNvPr>
          <p:cNvSpPr/>
          <p:nvPr/>
        </p:nvSpPr>
        <p:spPr>
          <a:xfrm>
            <a:off x="825500" y="2667000"/>
            <a:ext cx="2413000" cy="12065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27000" dist="37357" dir="27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>
                <a:solidFill>
                  <a:srgbClr val="191821"/>
                </a:solidFill>
                <a:latin typeface="Aptos" panose="020B0004020202020204" pitchFamily="34" charset="0"/>
              </a:rPr>
              <a:t>1 · Cliente</a:t>
            </a:r>
          </a:p>
          <a:p>
            <a:pPr algn="ctr"/>
            <a:r>
              <a:rPr lang="es-ES" sz="1500">
                <a:solidFill>
                  <a:srgbClr val="191821"/>
                </a:solidFill>
                <a:latin typeface="Aptos" panose="020B0004020202020204" pitchFamily="34" charset="0"/>
              </a:rPr>
              <a:t>Reserva desde móvil</a:t>
            </a: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3E5057F2-75C2-C6AF-4AF7-042B512C6AFE}"/>
              </a:ext>
            </a:extLst>
          </p:cNvPr>
          <p:cNvSpPr/>
          <p:nvPr/>
        </p:nvSpPr>
        <p:spPr>
          <a:xfrm>
            <a:off x="3429000" y="3022600"/>
            <a:ext cx="825500" cy="381000"/>
          </a:xfrm>
          <a:prstGeom prst="rightArrow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B7043D8-BD88-192F-A3B9-71FE4FA29D51}"/>
              </a:ext>
            </a:extLst>
          </p:cNvPr>
          <p:cNvSpPr/>
          <p:nvPr/>
        </p:nvSpPr>
        <p:spPr>
          <a:xfrm>
            <a:off x="4445000" y="2667000"/>
            <a:ext cx="2413000" cy="12065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27000" dist="37357" dir="27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191821"/>
                </a:solidFill>
                <a:latin typeface="Aptos" panose="020B0004020202020204" pitchFamily="34" charset="0"/>
              </a:rPr>
              <a:t>2 · Frontend React</a:t>
            </a:r>
          </a:p>
          <a:p>
            <a:pPr algn="ctr"/>
            <a:r>
              <a:rPr lang="en-US" sz="1500">
                <a:solidFill>
                  <a:srgbClr val="191821"/>
                </a:solidFill>
                <a:latin typeface="Aptos" panose="020B0004020202020204" pitchFamily="34" charset="0"/>
              </a:rPr>
              <a:t>Interfaz web responsive</a:t>
            </a:r>
            <a:endParaRPr lang="es-ES" sz="1500">
              <a:solidFill>
                <a:srgbClr val="191821"/>
              </a:solidFill>
              <a:latin typeface="Aptos" panose="020B0004020202020204" pitchFamily="34" charset="0"/>
            </a:endParaRP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E21DA3A9-6E93-ED8B-550A-566DEDB35288}"/>
              </a:ext>
            </a:extLst>
          </p:cNvPr>
          <p:cNvSpPr/>
          <p:nvPr/>
        </p:nvSpPr>
        <p:spPr>
          <a:xfrm>
            <a:off x="7048500" y="3022600"/>
            <a:ext cx="825500" cy="381000"/>
          </a:xfrm>
          <a:prstGeom prst="rightArrow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C8F6CECD-7076-2F1F-976F-484B00A06EA9}"/>
              </a:ext>
            </a:extLst>
          </p:cNvPr>
          <p:cNvSpPr/>
          <p:nvPr/>
        </p:nvSpPr>
        <p:spPr>
          <a:xfrm>
            <a:off x="8064500" y="2667000"/>
            <a:ext cx="2413000" cy="12065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27000" dist="37357" dir="27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>
                <a:solidFill>
                  <a:srgbClr val="191821"/>
                </a:solidFill>
                <a:latin typeface="Aptos" panose="020B0004020202020204" pitchFamily="34" charset="0"/>
              </a:rPr>
              <a:t>3 · Backend Node</a:t>
            </a:r>
          </a:p>
          <a:p>
            <a:pPr algn="ctr"/>
            <a:r>
              <a:rPr lang="es-ES" sz="1500">
                <a:solidFill>
                  <a:srgbClr val="191821"/>
                </a:solidFill>
                <a:latin typeface="Aptos" panose="020B0004020202020204" pitchFamily="34" charset="0"/>
              </a:rPr>
              <a:t>API REST y lógica</a:t>
            </a:r>
          </a:p>
        </p:txBody>
      </p:sp>
      <p:sp>
        <p:nvSpPr>
          <p:cNvPr id="14" name="Flecha: hacia abajo 13">
            <a:extLst>
              <a:ext uri="{FF2B5EF4-FFF2-40B4-BE49-F238E27FC236}">
                <a16:creationId xmlns:a16="http://schemas.microsoft.com/office/drawing/2014/main" id="{FF4160FF-99C4-523A-33E4-5761A7D7936F}"/>
              </a:ext>
            </a:extLst>
          </p:cNvPr>
          <p:cNvSpPr/>
          <p:nvPr/>
        </p:nvSpPr>
        <p:spPr>
          <a:xfrm>
            <a:off x="9017000" y="4064000"/>
            <a:ext cx="508000" cy="762000"/>
          </a:xfrm>
          <a:prstGeom prst="downArrow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620447F8-2F2E-0A26-CAFE-77A15432166E}"/>
              </a:ext>
            </a:extLst>
          </p:cNvPr>
          <p:cNvSpPr/>
          <p:nvPr/>
        </p:nvSpPr>
        <p:spPr>
          <a:xfrm>
            <a:off x="8064500" y="5080000"/>
            <a:ext cx="2413000" cy="10795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27000" dist="37357" dir="27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>
                <a:solidFill>
                  <a:srgbClr val="191821"/>
                </a:solidFill>
                <a:latin typeface="Aptos" panose="020B0004020202020204" pitchFamily="34" charset="0"/>
              </a:rPr>
              <a:t>4 · MongoDB</a:t>
            </a:r>
          </a:p>
          <a:p>
            <a:pPr algn="ctr"/>
            <a:r>
              <a:rPr lang="es-ES" sz="1500">
                <a:solidFill>
                  <a:srgbClr val="191821"/>
                </a:solidFill>
                <a:latin typeface="Aptos" panose="020B0004020202020204" pitchFamily="34" charset="0"/>
              </a:rPr>
              <a:t>Persistencia de datos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DE40DD1-A6AB-0437-3F86-7924D6D2DD3B}"/>
              </a:ext>
            </a:extLst>
          </p:cNvPr>
          <p:cNvSpPr txBox="1"/>
          <p:nvPr/>
        </p:nvSpPr>
        <p:spPr>
          <a:xfrm>
            <a:off x="1016000" y="5080000"/>
            <a:ext cx="5969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000">
                <a:solidFill>
                  <a:srgbClr val="191821"/>
                </a:solidFill>
                <a:latin typeface="Aptos" panose="020B0004020202020204" pitchFamily="34" charset="0"/>
              </a:rPr>
              <a:t>La arquitectura separa presentación, lógica de negocio y capa de datos para facilitar mantenimiento y escalabilidad.</a:t>
            </a:r>
          </a:p>
        </p:txBody>
      </p:sp>
    </p:spTree>
    <p:extLst>
      <p:ext uri="{BB962C8B-B14F-4D97-AF65-F5344CB8AC3E}">
        <p14:creationId xmlns:p14="http://schemas.microsoft.com/office/powerpoint/2010/main" val="1086246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99E565C3-5BB9-B7F6-07DA-CF8B8F44AC09}"/>
              </a:ext>
            </a:extLst>
          </p:cNvPr>
          <p:cNvSpPr/>
          <p:nvPr/>
        </p:nvSpPr>
        <p:spPr>
          <a:xfrm>
            <a:off x="9525000" y="-1460500"/>
            <a:ext cx="4191000" cy="4191000"/>
          </a:xfrm>
          <a:prstGeom prst="ellipse">
            <a:avLst/>
          </a:prstGeom>
          <a:solidFill>
            <a:srgbClr val="EEE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FEE1717-5ED2-8705-70A4-C66AE3E59A7A}"/>
              </a:ext>
            </a:extLst>
          </p:cNvPr>
          <p:cNvSpPr/>
          <p:nvPr/>
        </p:nvSpPr>
        <p:spPr>
          <a:xfrm>
            <a:off x="-1460500" y="4826000"/>
            <a:ext cx="3683000" cy="3683000"/>
          </a:xfrm>
          <a:prstGeom prst="ellipse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20B4427-2329-9B12-6FD5-D642978E8D53}"/>
              </a:ext>
            </a:extLst>
          </p:cNvPr>
          <p:cNvSpPr/>
          <p:nvPr/>
        </p:nvSpPr>
        <p:spPr>
          <a:xfrm>
            <a:off x="10033000" y="5842000"/>
            <a:ext cx="1270000" cy="1778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964A527-5F28-556B-3C2D-5C028E4A93AF}"/>
              </a:ext>
            </a:extLst>
          </p:cNvPr>
          <p:cNvSpPr/>
          <p:nvPr/>
        </p:nvSpPr>
        <p:spPr>
          <a:xfrm>
            <a:off x="8509000" y="5842000"/>
            <a:ext cx="1270000" cy="177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B5B34C5-90A1-5AA8-B5C7-9CE35DAEFF4F}"/>
              </a:ext>
            </a:extLst>
          </p:cNvPr>
          <p:cNvSpPr/>
          <p:nvPr/>
        </p:nvSpPr>
        <p:spPr>
          <a:xfrm>
            <a:off x="698500" y="444500"/>
            <a:ext cx="7366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9BA2D1-5EC0-60C9-08A9-FA983A8FFC0D}"/>
              </a:ext>
            </a:extLst>
          </p:cNvPr>
          <p:cNvSpPr txBox="1"/>
          <p:nvPr/>
        </p:nvSpPr>
        <p:spPr>
          <a:xfrm>
            <a:off x="698500" y="914400"/>
            <a:ext cx="965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191821"/>
                </a:solidFill>
                <a:latin typeface="Aptos Display" panose="020B0004020202020204" pitchFamily="34" charset="0"/>
              </a:rPr>
              <a:t>Stack tecnológico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61E240C-BEC9-5C48-C2ED-7268EF06EC8B}"/>
              </a:ext>
            </a:extLst>
          </p:cNvPr>
          <p:cNvSpPr txBox="1"/>
          <p:nvPr/>
        </p:nvSpPr>
        <p:spPr>
          <a:xfrm>
            <a:off x="736600" y="1587500"/>
            <a:ext cx="1041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>
                <a:solidFill>
                  <a:srgbClr val="696776"/>
                </a:solidFill>
                <a:latin typeface="Aptos" panose="020B0004020202020204" pitchFamily="34" charset="0"/>
              </a:rPr>
              <a:t>Se ha elegido MERN por coherencia técnica, rapidez de desarrollo e integración con documentos JSON.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75AF64F-E3C1-83DA-AEF7-A497521D436D}"/>
              </a:ext>
            </a:extLst>
          </p:cNvPr>
          <p:cNvSpPr/>
          <p:nvPr/>
        </p:nvSpPr>
        <p:spPr>
          <a:xfrm>
            <a:off x="952500" y="1968500"/>
            <a:ext cx="2222500" cy="13970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27000" dist="37357" dir="2700000" rotWithShape="0">
              <a:scrgbClr r="0" g="0" b="0">
                <a:alpha val="12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9240264-3AB8-58BD-D6CE-A213768421DA}"/>
              </a:ext>
            </a:extLst>
          </p:cNvPr>
          <p:cNvSpPr/>
          <p:nvPr/>
        </p:nvSpPr>
        <p:spPr>
          <a:xfrm>
            <a:off x="1181100" y="2197100"/>
            <a:ext cx="6350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10B981"/>
                </a:solidFill>
                <a:latin typeface="Aptos" panose="020B0004020202020204" pitchFamily="34" charset="0"/>
              </a:rPr>
              <a:t>DB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2B2E5C2-C75C-962A-D238-EBFDBD869030}"/>
              </a:ext>
            </a:extLst>
          </p:cNvPr>
          <p:cNvSpPr txBox="1"/>
          <p:nvPr/>
        </p:nvSpPr>
        <p:spPr>
          <a:xfrm>
            <a:off x="1943100" y="2197100"/>
            <a:ext cx="114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 b="1">
                <a:solidFill>
                  <a:srgbClr val="191821"/>
                </a:solidFill>
                <a:latin typeface="Aptos Display" panose="020B0004020202020204" pitchFamily="34" charset="0"/>
              </a:rPr>
              <a:t>MongoDB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42CF795-4EE0-4954-881F-D8CC680E5A4B}"/>
              </a:ext>
            </a:extLst>
          </p:cNvPr>
          <p:cNvSpPr txBox="1"/>
          <p:nvPr/>
        </p:nvSpPr>
        <p:spPr>
          <a:xfrm>
            <a:off x="1206500" y="2755900"/>
            <a:ext cx="1714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696776"/>
                </a:solidFill>
                <a:latin typeface="Aptos" panose="020B0004020202020204" pitchFamily="34" charset="0"/>
              </a:rPr>
              <a:t>Base de datos NoSQL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5B9E5CC-73B3-A61D-5A19-A5EAF70E9ACE}"/>
              </a:ext>
            </a:extLst>
          </p:cNvPr>
          <p:cNvSpPr/>
          <p:nvPr/>
        </p:nvSpPr>
        <p:spPr>
          <a:xfrm>
            <a:off x="3683000" y="1968500"/>
            <a:ext cx="2222500" cy="13970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27000" dist="37357" dir="2700000" rotWithShape="0">
              <a:scrgbClr r="0" g="0" b="0">
                <a:alpha val="12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9FBE0F2-3D06-F971-57F5-48BED6C523E8}"/>
              </a:ext>
            </a:extLst>
          </p:cNvPr>
          <p:cNvSpPr/>
          <p:nvPr/>
        </p:nvSpPr>
        <p:spPr>
          <a:xfrm>
            <a:off x="3911600" y="2197100"/>
            <a:ext cx="6350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API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079FE50-695B-3E2D-6CFB-B4A22EF58660}"/>
              </a:ext>
            </a:extLst>
          </p:cNvPr>
          <p:cNvSpPr txBox="1"/>
          <p:nvPr/>
        </p:nvSpPr>
        <p:spPr>
          <a:xfrm>
            <a:off x="4673600" y="2197100"/>
            <a:ext cx="114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 b="1">
                <a:solidFill>
                  <a:srgbClr val="191821"/>
                </a:solidFill>
                <a:latin typeface="Aptos Display" panose="020B0004020202020204" pitchFamily="34" charset="0"/>
              </a:rPr>
              <a:t>Express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AC08EE8-1B87-0257-AF2D-4B88D3F64D2C}"/>
              </a:ext>
            </a:extLst>
          </p:cNvPr>
          <p:cNvSpPr txBox="1"/>
          <p:nvPr/>
        </p:nvSpPr>
        <p:spPr>
          <a:xfrm>
            <a:off x="3937000" y="2755900"/>
            <a:ext cx="1714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696776"/>
                </a:solidFill>
                <a:latin typeface="Aptos" panose="020B0004020202020204" pitchFamily="34" charset="0"/>
              </a:rPr>
              <a:t>API REST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5263476-BBC9-118A-F130-BBCF5A683849}"/>
              </a:ext>
            </a:extLst>
          </p:cNvPr>
          <p:cNvSpPr/>
          <p:nvPr/>
        </p:nvSpPr>
        <p:spPr>
          <a:xfrm>
            <a:off x="6413500" y="1968500"/>
            <a:ext cx="2222500" cy="13970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27000" dist="37357" dir="2700000" rotWithShape="0">
              <a:scrgbClr r="0" g="0" b="0">
                <a:alpha val="12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694640CC-6214-3DA2-08B6-73A0E3CD02F6}"/>
              </a:ext>
            </a:extLst>
          </p:cNvPr>
          <p:cNvSpPr/>
          <p:nvPr/>
        </p:nvSpPr>
        <p:spPr>
          <a:xfrm>
            <a:off x="6642100" y="2197100"/>
            <a:ext cx="6350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10B981"/>
                </a:solidFill>
                <a:latin typeface="Aptos" panose="020B0004020202020204" pitchFamily="34" charset="0"/>
              </a:rPr>
              <a:t>UI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926D96D-DD73-ECE0-0BF5-FC777916C271}"/>
              </a:ext>
            </a:extLst>
          </p:cNvPr>
          <p:cNvSpPr txBox="1"/>
          <p:nvPr/>
        </p:nvSpPr>
        <p:spPr>
          <a:xfrm>
            <a:off x="7404100" y="2197100"/>
            <a:ext cx="114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 b="1">
                <a:solidFill>
                  <a:srgbClr val="191821"/>
                </a:solidFill>
                <a:latin typeface="Aptos Display" panose="020B0004020202020204" pitchFamily="34" charset="0"/>
              </a:rPr>
              <a:t>React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9BBC73F-9412-7DF0-B2C8-03316A155E7A}"/>
              </a:ext>
            </a:extLst>
          </p:cNvPr>
          <p:cNvSpPr txBox="1"/>
          <p:nvPr/>
        </p:nvSpPr>
        <p:spPr>
          <a:xfrm>
            <a:off x="6667500" y="2755900"/>
            <a:ext cx="1714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696776"/>
                </a:solidFill>
                <a:latin typeface="Aptos" panose="020B0004020202020204" pitchFamily="34" charset="0"/>
              </a:rPr>
              <a:t>Interfaz SPA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EDE796C8-5426-25D4-76DF-831414F96697}"/>
              </a:ext>
            </a:extLst>
          </p:cNvPr>
          <p:cNvSpPr/>
          <p:nvPr/>
        </p:nvSpPr>
        <p:spPr>
          <a:xfrm>
            <a:off x="9144000" y="1968500"/>
            <a:ext cx="2222500" cy="13970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27000" dist="37357" dir="2700000" rotWithShape="0">
              <a:scrgbClr r="0" g="0" b="0">
                <a:alpha val="12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5CDE8FBD-BF53-4915-2711-92FC389C8145}"/>
              </a:ext>
            </a:extLst>
          </p:cNvPr>
          <p:cNvSpPr/>
          <p:nvPr/>
        </p:nvSpPr>
        <p:spPr>
          <a:xfrm>
            <a:off x="9372600" y="2197100"/>
            <a:ext cx="6350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JS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30D1ACB-E651-6EE2-AF40-3BD3F37EAE78}"/>
              </a:ext>
            </a:extLst>
          </p:cNvPr>
          <p:cNvSpPr txBox="1"/>
          <p:nvPr/>
        </p:nvSpPr>
        <p:spPr>
          <a:xfrm>
            <a:off x="10134600" y="2197100"/>
            <a:ext cx="114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 b="1">
                <a:solidFill>
                  <a:srgbClr val="191821"/>
                </a:solidFill>
                <a:latin typeface="Aptos Display" panose="020B0004020202020204" pitchFamily="34" charset="0"/>
              </a:rPr>
              <a:t>Node.js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F3A2FDB-6774-DF02-339C-F7B81706BC1E}"/>
              </a:ext>
            </a:extLst>
          </p:cNvPr>
          <p:cNvSpPr txBox="1"/>
          <p:nvPr/>
        </p:nvSpPr>
        <p:spPr>
          <a:xfrm>
            <a:off x="9398000" y="2755900"/>
            <a:ext cx="1714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696776"/>
                </a:solidFill>
                <a:latin typeface="Aptos" panose="020B0004020202020204" pitchFamily="34" charset="0"/>
              </a:rPr>
              <a:t>Servidor backend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B9C21110-BD99-B43C-716E-871440559A29}"/>
              </a:ext>
            </a:extLst>
          </p:cNvPr>
          <p:cNvSpPr/>
          <p:nvPr/>
        </p:nvSpPr>
        <p:spPr>
          <a:xfrm>
            <a:off x="2349500" y="4191000"/>
            <a:ext cx="2222500" cy="13970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27000" dist="37357" dir="2700000" rotWithShape="0">
              <a:scrgbClr r="0" g="0" b="0">
                <a:alpha val="12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50EA9648-9126-B421-D524-01B8AAB26969}"/>
              </a:ext>
            </a:extLst>
          </p:cNvPr>
          <p:cNvSpPr/>
          <p:nvPr/>
        </p:nvSpPr>
        <p:spPr>
          <a:xfrm>
            <a:off x="2578100" y="4419600"/>
            <a:ext cx="6350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ODM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2C2A303-C4C9-2EBC-04C7-6FFE6469C2A8}"/>
              </a:ext>
            </a:extLst>
          </p:cNvPr>
          <p:cNvSpPr txBox="1"/>
          <p:nvPr/>
        </p:nvSpPr>
        <p:spPr>
          <a:xfrm>
            <a:off x="3340100" y="4419600"/>
            <a:ext cx="114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 b="1">
                <a:solidFill>
                  <a:srgbClr val="191821"/>
                </a:solidFill>
                <a:latin typeface="Aptos Display" panose="020B0004020202020204" pitchFamily="34" charset="0"/>
              </a:rPr>
              <a:t>Mongoose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C04CB91-2EE7-F25A-91D4-A85D8ABA83ED}"/>
              </a:ext>
            </a:extLst>
          </p:cNvPr>
          <p:cNvSpPr txBox="1"/>
          <p:nvPr/>
        </p:nvSpPr>
        <p:spPr>
          <a:xfrm>
            <a:off x="2603500" y="4978400"/>
            <a:ext cx="1714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696776"/>
                </a:solidFill>
                <a:latin typeface="Aptos" panose="020B0004020202020204" pitchFamily="34" charset="0"/>
              </a:rPr>
              <a:t>Modelado y validación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7BAEB99F-B126-9057-B256-42427DEFC297}"/>
              </a:ext>
            </a:extLst>
          </p:cNvPr>
          <p:cNvSpPr/>
          <p:nvPr/>
        </p:nvSpPr>
        <p:spPr>
          <a:xfrm>
            <a:off x="5080000" y="4191000"/>
            <a:ext cx="2222500" cy="13970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27000" dist="37357" dir="2700000" rotWithShape="0">
              <a:scrgbClr r="0" g="0" b="0">
                <a:alpha val="12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18624AE3-4255-17E2-F8E1-39FF7763607B}"/>
              </a:ext>
            </a:extLst>
          </p:cNvPr>
          <p:cNvSpPr/>
          <p:nvPr/>
        </p:nvSpPr>
        <p:spPr>
          <a:xfrm>
            <a:off x="5308600" y="4419600"/>
            <a:ext cx="6350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10B981"/>
                </a:solidFill>
                <a:latin typeface="Aptos" panose="020B0004020202020204" pitchFamily="34" charset="0"/>
              </a:rPr>
              <a:t>CSS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15C5066-E2FF-53E8-F612-09E7B0327308}"/>
              </a:ext>
            </a:extLst>
          </p:cNvPr>
          <p:cNvSpPr txBox="1"/>
          <p:nvPr/>
        </p:nvSpPr>
        <p:spPr>
          <a:xfrm>
            <a:off x="6070600" y="4419600"/>
            <a:ext cx="1143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 b="1">
                <a:solidFill>
                  <a:srgbClr val="191821"/>
                </a:solidFill>
                <a:latin typeface="Aptos Display" panose="020B0004020202020204" pitchFamily="34" charset="0"/>
              </a:rPr>
              <a:t>Tailwind CSS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DF9C8EC-C395-91F9-D8FE-36A4832E6FBA}"/>
              </a:ext>
            </a:extLst>
          </p:cNvPr>
          <p:cNvSpPr txBox="1"/>
          <p:nvPr/>
        </p:nvSpPr>
        <p:spPr>
          <a:xfrm>
            <a:off x="5334000" y="4978400"/>
            <a:ext cx="1714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696776"/>
                </a:solidFill>
                <a:latin typeface="Aptos" panose="020B0004020202020204" pitchFamily="34" charset="0"/>
              </a:rPr>
              <a:t>Diseño responsive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3EA4A039-D4E5-F6D0-DE36-478E96FA81F0}"/>
              </a:ext>
            </a:extLst>
          </p:cNvPr>
          <p:cNvSpPr/>
          <p:nvPr/>
        </p:nvSpPr>
        <p:spPr>
          <a:xfrm>
            <a:off x="7810500" y="4191000"/>
            <a:ext cx="2222500" cy="13970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27000" dist="37357" dir="2700000" rotWithShape="0">
              <a:scrgbClr r="0" g="0" b="0">
                <a:alpha val="12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5ACC2FAE-3F1C-5EC5-CCDE-0B81B2969D77}"/>
              </a:ext>
            </a:extLst>
          </p:cNvPr>
          <p:cNvSpPr/>
          <p:nvPr/>
        </p:nvSpPr>
        <p:spPr>
          <a:xfrm>
            <a:off x="8039100" y="4419600"/>
            <a:ext cx="6350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SEC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4180420C-F784-61D3-D4A4-8A3BEE7011FE}"/>
              </a:ext>
            </a:extLst>
          </p:cNvPr>
          <p:cNvSpPr txBox="1"/>
          <p:nvPr/>
        </p:nvSpPr>
        <p:spPr>
          <a:xfrm>
            <a:off x="8801100" y="4419600"/>
            <a:ext cx="114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 b="1">
                <a:solidFill>
                  <a:srgbClr val="191821"/>
                </a:solidFill>
                <a:latin typeface="Aptos Display" panose="020B0004020202020204" pitchFamily="34" charset="0"/>
              </a:rPr>
              <a:t>JWT + Zod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66A319E-916E-8477-B851-58BD0AE0C0A9}"/>
              </a:ext>
            </a:extLst>
          </p:cNvPr>
          <p:cNvSpPr txBox="1"/>
          <p:nvPr/>
        </p:nvSpPr>
        <p:spPr>
          <a:xfrm>
            <a:off x="8064500" y="4978400"/>
            <a:ext cx="1714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696776"/>
                </a:solidFill>
                <a:latin typeface="Aptos" panose="020B0004020202020204" pitchFamily="34" charset="0"/>
              </a:rPr>
              <a:t>Seguridad y validación</a:t>
            </a:r>
          </a:p>
        </p:txBody>
      </p:sp>
    </p:spTree>
    <p:extLst>
      <p:ext uri="{BB962C8B-B14F-4D97-AF65-F5344CB8AC3E}">
        <p14:creationId xmlns:p14="http://schemas.microsoft.com/office/powerpoint/2010/main" val="2086379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9FEC1B0F-6022-4CE1-28F7-DF3C7F20AB86}"/>
              </a:ext>
            </a:extLst>
          </p:cNvPr>
          <p:cNvSpPr/>
          <p:nvPr/>
        </p:nvSpPr>
        <p:spPr>
          <a:xfrm>
            <a:off x="9525000" y="-1460500"/>
            <a:ext cx="4191000" cy="4191000"/>
          </a:xfrm>
          <a:prstGeom prst="ellipse">
            <a:avLst/>
          </a:prstGeom>
          <a:solidFill>
            <a:srgbClr val="EEE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69DCA13-6331-A4C8-1682-94105E524304}"/>
              </a:ext>
            </a:extLst>
          </p:cNvPr>
          <p:cNvSpPr/>
          <p:nvPr/>
        </p:nvSpPr>
        <p:spPr>
          <a:xfrm>
            <a:off x="-1460500" y="4826000"/>
            <a:ext cx="3683000" cy="3683000"/>
          </a:xfrm>
          <a:prstGeom prst="ellipse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1325035-7B56-D861-FEEF-0A77DC654FFA}"/>
              </a:ext>
            </a:extLst>
          </p:cNvPr>
          <p:cNvSpPr/>
          <p:nvPr/>
        </p:nvSpPr>
        <p:spPr>
          <a:xfrm>
            <a:off x="10033000" y="5842000"/>
            <a:ext cx="1270000" cy="1778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6C17DCE-5016-2D81-2D75-320DDCA264DE}"/>
              </a:ext>
            </a:extLst>
          </p:cNvPr>
          <p:cNvSpPr/>
          <p:nvPr/>
        </p:nvSpPr>
        <p:spPr>
          <a:xfrm>
            <a:off x="8509000" y="5842000"/>
            <a:ext cx="1270000" cy="177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D3709CA-6521-6879-23AF-C5E813964D84}"/>
              </a:ext>
            </a:extLst>
          </p:cNvPr>
          <p:cNvSpPr/>
          <p:nvPr/>
        </p:nvSpPr>
        <p:spPr>
          <a:xfrm>
            <a:off x="698500" y="444500"/>
            <a:ext cx="7366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ED63FE-5463-7A0B-C5CC-F7E6F9238EE4}"/>
              </a:ext>
            </a:extLst>
          </p:cNvPr>
          <p:cNvSpPr txBox="1"/>
          <p:nvPr/>
        </p:nvSpPr>
        <p:spPr>
          <a:xfrm>
            <a:off x="698500" y="914400"/>
            <a:ext cx="965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191821"/>
                </a:solidFill>
                <a:latin typeface="Aptos Display" panose="020B0004020202020204" pitchFamily="34" charset="0"/>
              </a:rPr>
              <a:t>Modelo de datos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455AB60-0608-F1E8-6786-F24504EF55FB}"/>
              </a:ext>
            </a:extLst>
          </p:cNvPr>
          <p:cNvSpPr txBox="1"/>
          <p:nvPr/>
        </p:nvSpPr>
        <p:spPr>
          <a:xfrm>
            <a:off x="736600" y="1587500"/>
            <a:ext cx="1041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>
                <a:solidFill>
                  <a:srgbClr val="696776"/>
                </a:solidFill>
                <a:latin typeface="Aptos" panose="020B0004020202020204" pitchFamily="34" charset="0"/>
              </a:rPr>
              <a:t>El sistema se apoya en siete colecciones principales conectadas mediante referencias.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941339E-FBBF-6868-0722-1FCFB884BE24}"/>
              </a:ext>
            </a:extLst>
          </p:cNvPr>
          <p:cNvSpPr/>
          <p:nvPr/>
        </p:nvSpPr>
        <p:spPr>
          <a:xfrm>
            <a:off x="5080000" y="1968500"/>
            <a:ext cx="1905000" cy="736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>
                <a:solidFill>
                  <a:srgbClr val="191821"/>
                </a:solidFill>
                <a:latin typeface="Aptos" panose="020B0004020202020204" pitchFamily="34" charset="0"/>
              </a:rPr>
              <a:t>appointments</a:t>
            </a:r>
          </a:p>
          <a:p>
            <a:pPr algn="ctr"/>
            <a:r>
              <a:rPr lang="es-ES" sz="1200">
                <a:solidFill>
                  <a:srgbClr val="191821"/>
                </a:solidFill>
                <a:latin typeface="Aptos" panose="020B0004020202020204" pitchFamily="34" charset="0"/>
              </a:rPr>
              <a:t>Citas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8AA850B-F24D-B1C2-9186-50DDD82C9613}"/>
              </a:ext>
            </a:extLst>
          </p:cNvPr>
          <p:cNvSpPr/>
          <p:nvPr/>
        </p:nvSpPr>
        <p:spPr>
          <a:xfrm>
            <a:off x="1841500" y="3048000"/>
            <a:ext cx="1905000" cy="736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>
                <a:solidFill>
                  <a:srgbClr val="191821"/>
                </a:solidFill>
                <a:latin typeface="Aptos" panose="020B0004020202020204" pitchFamily="34" charset="0"/>
              </a:rPr>
              <a:t>users</a:t>
            </a:r>
          </a:p>
          <a:p>
            <a:pPr algn="ctr"/>
            <a:r>
              <a:rPr lang="es-ES" sz="1200">
                <a:solidFill>
                  <a:srgbClr val="191821"/>
                </a:solidFill>
                <a:latin typeface="Aptos" panose="020B0004020202020204" pitchFamily="34" charset="0"/>
              </a:rPr>
              <a:t>Clientes/Admin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837B509-259B-9AB1-9962-B83438BCEEA5}"/>
              </a:ext>
            </a:extLst>
          </p:cNvPr>
          <p:cNvSpPr/>
          <p:nvPr/>
        </p:nvSpPr>
        <p:spPr>
          <a:xfrm>
            <a:off x="5080000" y="3683000"/>
            <a:ext cx="1905000" cy="736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>
                <a:solidFill>
                  <a:srgbClr val="191821"/>
                </a:solidFill>
                <a:latin typeface="Aptos" panose="020B0004020202020204" pitchFamily="34" charset="0"/>
              </a:rPr>
              <a:t>services</a:t>
            </a:r>
          </a:p>
          <a:p>
            <a:pPr algn="ctr"/>
            <a:r>
              <a:rPr lang="es-ES" sz="1200">
                <a:solidFill>
                  <a:srgbClr val="191821"/>
                </a:solidFill>
                <a:latin typeface="Aptos" panose="020B0004020202020204" pitchFamily="34" charset="0"/>
              </a:rPr>
              <a:t>Servicios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580E18A-1F8A-0F3D-409A-6848F79E7126}"/>
              </a:ext>
            </a:extLst>
          </p:cNvPr>
          <p:cNvSpPr/>
          <p:nvPr/>
        </p:nvSpPr>
        <p:spPr>
          <a:xfrm>
            <a:off x="8318500" y="3048000"/>
            <a:ext cx="1905000" cy="736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>
                <a:solidFill>
                  <a:srgbClr val="191821"/>
                </a:solidFill>
                <a:latin typeface="Aptos" panose="020B0004020202020204" pitchFamily="34" charset="0"/>
              </a:rPr>
              <a:t>professionals</a:t>
            </a:r>
          </a:p>
          <a:p>
            <a:pPr algn="ctr"/>
            <a:r>
              <a:rPr lang="es-ES" sz="1200">
                <a:solidFill>
                  <a:srgbClr val="191821"/>
                </a:solidFill>
                <a:latin typeface="Aptos" panose="020B0004020202020204" pitchFamily="34" charset="0"/>
              </a:rPr>
              <a:t>Profesionales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C4E0C7A-4A0B-DB7E-7E19-C6F308278222}"/>
              </a:ext>
            </a:extLst>
          </p:cNvPr>
          <p:cNvSpPr/>
          <p:nvPr/>
        </p:nvSpPr>
        <p:spPr>
          <a:xfrm>
            <a:off x="1841500" y="5143500"/>
            <a:ext cx="1905000" cy="736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>
                <a:solidFill>
                  <a:srgbClr val="191821"/>
                </a:solidFill>
                <a:latin typeface="Aptos" panose="020B0004020202020204" pitchFamily="34" charset="0"/>
              </a:rPr>
              <a:t>technicalnotes</a:t>
            </a:r>
          </a:p>
          <a:p>
            <a:pPr algn="ctr"/>
            <a:r>
              <a:rPr lang="es-ES" sz="1200">
                <a:solidFill>
                  <a:srgbClr val="191821"/>
                </a:solidFill>
                <a:latin typeface="Aptos" panose="020B0004020202020204" pitchFamily="34" charset="0"/>
              </a:rPr>
              <a:t>CRM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F0B3170B-57A6-0B2B-7CCA-C3C6BE9F19B9}"/>
              </a:ext>
            </a:extLst>
          </p:cNvPr>
          <p:cNvSpPr/>
          <p:nvPr/>
        </p:nvSpPr>
        <p:spPr>
          <a:xfrm>
            <a:off x="8318500" y="5143500"/>
            <a:ext cx="1905000" cy="736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>
                <a:solidFill>
                  <a:srgbClr val="191821"/>
                </a:solidFill>
                <a:latin typeface="Aptos" panose="020B0004020202020204" pitchFamily="34" charset="0"/>
              </a:rPr>
              <a:t>blockers</a:t>
            </a:r>
          </a:p>
          <a:p>
            <a:pPr algn="ctr"/>
            <a:r>
              <a:rPr lang="es-ES" sz="1200">
                <a:solidFill>
                  <a:srgbClr val="191821"/>
                </a:solidFill>
                <a:latin typeface="Aptos" panose="020B0004020202020204" pitchFamily="34" charset="0"/>
              </a:rPr>
              <a:t>Bloqueos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93EF712-B1BF-22D8-D57C-98AB5F7BE4F0}"/>
              </a:ext>
            </a:extLst>
          </p:cNvPr>
          <p:cNvSpPr/>
          <p:nvPr/>
        </p:nvSpPr>
        <p:spPr>
          <a:xfrm>
            <a:off x="5080000" y="5778500"/>
            <a:ext cx="1905000" cy="736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>
                <a:solidFill>
                  <a:srgbClr val="191821"/>
                </a:solidFill>
                <a:latin typeface="Aptos" panose="020B0004020202020204" pitchFamily="34" charset="0"/>
              </a:rPr>
              <a:t>settings</a:t>
            </a:r>
          </a:p>
          <a:p>
            <a:pPr algn="ctr"/>
            <a:r>
              <a:rPr lang="es-ES" sz="1200">
                <a:solidFill>
                  <a:srgbClr val="191821"/>
                </a:solidFill>
                <a:latin typeface="Aptos" panose="020B0004020202020204" pitchFamily="34" charset="0"/>
              </a:rPr>
              <a:t>Configuración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3BD53C1-1784-5784-9964-3C3DEFEEB5F3}"/>
              </a:ext>
            </a:extLst>
          </p:cNvPr>
          <p:cNvCxnSpPr/>
          <p:nvPr/>
        </p:nvCxnSpPr>
        <p:spPr>
          <a:xfrm flipH="1">
            <a:off x="3492500" y="2413000"/>
            <a:ext cx="1079500" cy="889000"/>
          </a:xfrm>
          <a:prstGeom prst="line">
            <a:avLst/>
          </a:prstGeom>
          <a:ln w="17780">
            <a:solidFill>
              <a:srgbClr val="69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E648A8BC-E90D-A700-0CAC-62C0143AEF89}"/>
              </a:ext>
            </a:extLst>
          </p:cNvPr>
          <p:cNvCxnSpPr/>
          <p:nvPr/>
        </p:nvCxnSpPr>
        <p:spPr>
          <a:xfrm>
            <a:off x="6731000" y="2413000"/>
            <a:ext cx="1651000" cy="889000"/>
          </a:xfrm>
          <a:prstGeom prst="line">
            <a:avLst/>
          </a:prstGeom>
          <a:ln w="17780">
            <a:solidFill>
              <a:srgbClr val="69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C38C9C31-530D-C900-B5FB-7F86B21CC642}"/>
              </a:ext>
            </a:extLst>
          </p:cNvPr>
          <p:cNvCxnSpPr/>
          <p:nvPr/>
        </p:nvCxnSpPr>
        <p:spPr>
          <a:xfrm>
            <a:off x="5969000" y="2730500"/>
            <a:ext cx="0" cy="952500"/>
          </a:xfrm>
          <a:prstGeom prst="line">
            <a:avLst/>
          </a:prstGeom>
          <a:ln w="17780">
            <a:solidFill>
              <a:srgbClr val="69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897C6CDB-C6C6-326C-FC1D-9EBF9DC8F411}"/>
              </a:ext>
            </a:extLst>
          </p:cNvPr>
          <p:cNvCxnSpPr/>
          <p:nvPr/>
        </p:nvCxnSpPr>
        <p:spPr>
          <a:xfrm flipV="1">
            <a:off x="3556000" y="4191000"/>
            <a:ext cx="1524000" cy="1270000"/>
          </a:xfrm>
          <a:prstGeom prst="line">
            <a:avLst/>
          </a:prstGeom>
          <a:ln w="17780">
            <a:solidFill>
              <a:srgbClr val="69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CE7B636-5217-0167-8C91-B29262032970}"/>
              </a:ext>
            </a:extLst>
          </p:cNvPr>
          <p:cNvCxnSpPr/>
          <p:nvPr/>
        </p:nvCxnSpPr>
        <p:spPr>
          <a:xfrm flipH="1" flipV="1">
            <a:off x="6604000" y="4191000"/>
            <a:ext cx="1778000" cy="1270000"/>
          </a:xfrm>
          <a:prstGeom prst="line">
            <a:avLst/>
          </a:prstGeom>
          <a:ln w="17780">
            <a:solidFill>
              <a:srgbClr val="69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674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338928B2-7778-ECFA-BE82-7C818AF11E26}"/>
              </a:ext>
            </a:extLst>
          </p:cNvPr>
          <p:cNvSpPr/>
          <p:nvPr/>
        </p:nvSpPr>
        <p:spPr>
          <a:xfrm>
            <a:off x="9525000" y="-1460500"/>
            <a:ext cx="4191000" cy="4191000"/>
          </a:xfrm>
          <a:prstGeom prst="ellipse">
            <a:avLst/>
          </a:prstGeom>
          <a:solidFill>
            <a:srgbClr val="EEE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C6BE3F1-8427-957D-1742-0F35C61F912B}"/>
              </a:ext>
            </a:extLst>
          </p:cNvPr>
          <p:cNvSpPr/>
          <p:nvPr/>
        </p:nvSpPr>
        <p:spPr>
          <a:xfrm>
            <a:off x="-1460500" y="4826000"/>
            <a:ext cx="3683000" cy="3683000"/>
          </a:xfrm>
          <a:prstGeom prst="ellipse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642A9F3-379A-0867-EDB9-A2F5FAC2AB78}"/>
              </a:ext>
            </a:extLst>
          </p:cNvPr>
          <p:cNvSpPr/>
          <p:nvPr/>
        </p:nvSpPr>
        <p:spPr>
          <a:xfrm>
            <a:off x="10033000" y="5842000"/>
            <a:ext cx="1270000" cy="1778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384F18D-EB38-5E9F-2204-C1002EC54EF9}"/>
              </a:ext>
            </a:extLst>
          </p:cNvPr>
          <p:cNvSpPr/>
          <p:nvPr/>
        </p:nvSpPr>
        <p:spPr>
          <a:xfrm>
            <a:off x="8509000" y="5842000"/>
            <a:ext cx="1270000" cy="177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5D181D8-90CB-73AB-2749-B97E338CA6FC}"/>
              </a:ext>
            </a:extLst>
          </p:cNvPr>
          <p:cNvSpPr/>
          <p:nvPr/>
        </p:nvSpPr>
        <p:spPr>
          <a:xfrm>
            <a:off x="698500" y="444500"/>
            <a:ext cx="7366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B52A808-29E6-A905-0C80-3D11EA68E76D}"/>
              </a:ext>
            </a:extLst>
          </p:cNvPr>
          <p:cNvSpPr txBox="1"/>
          <p:nvPr/>
        </p:nvSpPr>
        <p:spPr>
          <a:xfrm>
            <a:off x="698500" y="914400"/>
            <a:ext cx="965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191821"/>
                </a:solidFill>
                <a:latin typeface="Aptos Display" panose="020B0004020202020204" pitchFamily="34" charset="0"/>
              </a:rPr>
              <a:t>Motor de disponibilidad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522470F-34B4-0E75-2276-2D1E1C62395B}"/>
              </a:ext>
            </a:extLst>
          </p:cNvPr>
          <p:cNvSpPr txBox="1"/>
          <p:nvPr/>
        </p:nvSpPr>
        <p:spPr>
          <a:xfrm>
            <a:off x="736600" y="1587500"/>
            <a:ext cx="1041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>
                <a:solidFill>
                  <a:srgbClr val="696776"/>
                </a:solidFill>
                <a:latin typeface="Aptos" panose="020B0004020202020204" pitchFamily="34" charset="0"/>
              </a:rPr>
              <a:t>Es el componente clave: calcula huecos libres en tiempo real y evita solapamientos.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F4E278A-67EE-F337-0F5A-A6D276CF5154}"/>
              </a:ext>
            </a:extLst>
          </p:cNvPr>
          <p:cNvSpPr/>
          <p:nvPr/>
        </p:nvSpPr>
        <p:spPr>
          <a:xfrm>
            <a:off x="1333500" y="2095500"/>
            <a:ext cx="812800" cy="8128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>
                <a:solidFill>
                  <a:srgbClr val="7C3AED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50BA5D3-2CE3-D4EA-5E9F-A1D52AA7F92E}"/>
              </a:ext>
            </a:extLst>
          </p:cNvPr>
          <p:cNvSpPr txBox="1"/>
          <p:nvPr/>
        </p:nvSpPr>
        <p:spPr>
          <a:xfrm>
            <a:off x="889000" y="3136900"/>
            <a:ext cx="18415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 b="1">
                <a:solidFill>
                  <a:srgbClr val="191821"/>
                </a:solidFill>
                <a:latin typeface="Aptos Display" panose="020B0004020202020204" pitchFamily="34" charset="0"/>
              </a:rPr>
              <a:t>Servicio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32E9559-B911-34EB-762A-01877FCA1E51}"/>
              </a:ext>
            </a:extLst>
          </p:cNvPr>
          <p:cNvSpPr txBox="1"/>
          <p:nvPr/>
        </p:nvSpPr>
        <p:spPr>
          <a:xfrm>
            <a:off x="889000" y="3556000"/>
            <a:ext cx="18415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696776"/>
                </a:solidFill>
                <a:latin typeface="Aptos" panose="020B0004020202020204" pitchFamily="34" charset="0"/>
              </a:rPr>
              <a:t>Identifica el servicio solicitado.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2E8FA0C-2B6B-77E1-6B08-55DFA4419E60}"/>
              </a:ext>
            </a:extLst>
          </p:cNvPr>
          <p:cNvSpPr/>
          <p:nvPr/>
        </p:nvSpPr>
        <p:spPr>
          <a:xfrm>
            <a:off x="3556000" y="2095500"/>
            <a:ext cx="812800" cy="8128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>
                <a:solidFill>
                  <a:srgbClr val="10B981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6A85AA0-0166-6967-C0A2-500E36DE96B8}"/>
              </a:ext>
            </a:extLst>
          </p:cNvPr>
          <p:cNvSpPr txBox="1"/>
          <p:nvPr/>
        </p:nvSpPr>
        <p:spPr>
          <a:xfrm>
            <a:off x="3111500" y="3136900"/>
            <a:ext cx="18415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 b="1">
                <a:solidFill>
                  <a:srgbClr val="191821"/>
                </a:solidFill>
                <a:latin typeface="Aptos Display" panose="020B0004020202020204" pitchFamily="34" charset="0"/>
              </a:rPr>
              <a:t>Profesionales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C2A79D0-F895-A7B8-7C76-5929AAF32D6C}"/>
              </a:ext>
            </a:extLst>
          </p:cNvPr>
          <p:cNvSpPr txBox="1"/>
          <p:nvPr/>
        </p:nvSpPr>
        <p:spPr>
          <a:xfrm>
            <a:off x="3111500" y="3556000"/>
            <a:ext cx="18415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696776"/>
                </a:solidFill>
                <a:latin typeface="Aptos" panose="020B0004020202020204" pitchFamily="34" charset="0"/>
              </a:rPr>
              <a:t>Filtra quién puede realizarlo.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77FCAFD0-91E6-BA45-DC31-CBE14EB8E2FB}"/>
              </a:ext>
            </a:extLst>
          </p:cNvPr>
          <p:cNvSpPr/>
          <p:nvPr/>
        </p:nvSpPr>
        <p:spPr>
          <a:xfrm>
            <a:off x="5778500" y="2095500"/>
            <a:ext cx="812800" cy="8128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>
                <a:solidFill>
                  <a:srgbClr val="7C3AED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E7BFE2A-4B9C-9D4E-90A4-C8F874CC8EDD}"/>
              </a:ext>
            </a:extLst>
          </p:cNvPr>
          <p:cNvSpPr txBox="1"/>
          <p:nvPr/>
        </p:nvSpPr>
        <p:spPr>
          <a:xfrm>
            <a:off x="5334000" y="3136900"/>
            <a:ext cx="18415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 b="1">
                <a:solidFill>
                  <a:srgbClr val="191821"/>
                </a:solidFill>
                <a:latin typeface="Aptos Display" panose="020B0004020202020204" pitchFamily="34" charset="0"/>
              </a:rPr>
              <a:t>Horario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9093D0A-51BD-61D7-EC8B-2A78D221512D}"/>
              </a:ext>
            </a:extLst>
          </p:cNvPr>
          <p:cNvSpPr txBox="1"/>
          <p:nvPr/>
        </p:nvSpPr>
        <p:spPr>
          <a:xfrm>
            <a:off x="5334000" y="3556000"/>
            <a:ext cx="18415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696776"/>
                </a:solidFill>
                <a:latin typeface="Aptos" panose="020B0004020202020204" pitchFamily="34" charset="0"/>
              </a:rPr>
              <a:t>Genera slots según jornada.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781CE0F6-B487-48C5-1297-8D7463242B54}"/>
              </a:ext>
            </a:extLst>
          </p:cNvPr>
          <p:cNvSpPr/>
          <p:nvPr/>
        </p:nvSpPr>
        <p:spPr>
          <a:xfrm>
            <a:off x="8001000" y="2095500"/>
            <a:ext cx="812800" cy="8128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>
                <a:solidFill>
                  <a:srgbClr val="10B981"/>
                </a:solidFill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CE1762-35DD-AC54-A3C1-A2D413483E93}"/>
              </a:ext>
            </a:extLst>
          </p:cNvPr>
          <p:cNvSpPr txBox="1"/>
          <p:nvPr/>
        </p:nvSpPr>
        <p:spPr>
          <a:xfrm>
            <a:off x="7556500" y="3136900"/>
            <a:ext cx="18415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 b="1">
                <a:solidFill>
                  <a:srgbClr val="191821"/>
                </a:solidFill>
                <a:latin typeface="Aptos Display" panose="020B0004020202020204" pitchFamily="34" charset="0"/>
              </a:rPr>
              <a:t>Bloqueos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FF34932-08B1-671A-89C3-745155F7F523}"/>
              </a:ext>
            </a:extLst>
          </p:cNvPr>
          <p:cNvSpPr txBox="1"/>
          <p:nvPr/>
        </p:nvSpPr>
        <p:spPr>
          <a:xfrm>
            <a:off x="7556500" y="3556000"/>
            <a:ext cx="18415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696776"/>
                </a:solidFill>
                <a:latin typeface="Aptos" panose="020B0004020202020204" pitchFamily="34" charset="0"/>
              </a:rPr>
              <a:t>Elimina ausencias y festivos.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A0FFFE8A-EB1E-3E73-6D21-CC0E33182EDC}"/>
              </a:ext>
            </a:extLst>
          </p:cNvPr>
          <p:cNvSpPr/>
          <p:nvPr/>
        </p:nvSpPr>
        <p:spPr>
          <a:xfrm>
            <a:off x="10223500" y="2095500"/>
            <a:ext cx="812800" cy="8128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>
                <a:solidFill>
                  <a:srgbClr val="7C3AED"/>
                </a:solidFill>
                <a:latin typeface="Aptos Display" panose="020B0004020202020204" pitchFamily="34" charset="0"/>
              </a:rPr>
              <a:t>5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2579131-32FA-8894-2B91-32A09B8CFC5A}"/>
              </a:ext>
            </a:extLst>
          </p:cNvPr>
          <p:cNvSpPr txBox="1"/>
          <p:nvPr/>
        </p:nvSpPr>
        <p:spPr>
          <a:xfrm>
            <a:off x="9779000" y="3136900"/>
            <a:ext cx="18415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 b="1">
                <a:solidFill>
                  <a:srgbClr val="191821"/>
                </a:solidFill>
                <a:latin typeface="Aptos Display" panose="020B0004020202020204" pitchFamily="34" charset="0"/>
              </a:rPr>
              <a:t>Citas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D248AD6-AE8D-A5FB-60F1-1951AFF996AB}"/>
              </a:ext>
            </a:extLst>
          </p:cNvPr>
          <p:cNvSpPr txBox="1"/>
          <p:nvPr/>
        </p:nvSpPr>
        <p:spPr>
          <a:xfrm>
            <a:off x="9779000" y="3556000"/>
            <a:ext cx="18415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696776"/>
                </a:solidFill>
                <a:latin typeface="Aptos" panose="020B0004020202020204" pitchFamily="34" charset="0"/>
              </a:rPr>
              <a:t>Descarta huecos ocupados.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F74337ED-9049-7510-CFC6-C56A467357F1}"/>
              </a:ext>
            </a:extLst>
          </p:cNvPr>
          <p:cNvSpPr/>
          <p:nvPr/>
        </p:nvSpPr>
        <p:spPr>
          <a:xfrm>
            <a:off x="1143000" y="5270500"/>
            <a:ext cx="9906000" cy="825500"/>
          </a:xfrm>
          <a:prstGeom prst="roundRect">
            <a:avLst/>
          </a:prstGeom>
          <a:solidFill>
            <a:srgbClr val="FFFFFF"/>
          </a:solidFill>
          <a:ln>
            <a:solidFill>
              <a:srgbClr val="E6E1F4"/>
            </a:solidFill>
          </a:ln>
          <a:effectLst>
            <a:outerShdw blurRad="127000" dist="37357" dir="2700000" rotWithShape="0">
              <a:scrgbClr r="0" g="0" b="0">
                <a:alpha val="12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Ins="254000" rtlCol="0" anchor="ctr"/>
          <a:lstStyle/>
          <a:p>
            <a:pPr algn="ctr"/>
            <a:r>
              <a:rPr lang="es-ES" b="1">
                <a:solidFill>
                  <a:srgbClr val="291947"/>
                </a:solidFill>
                <a:latin typeface="Aptos Display" panose="020B0004020202020204" pitchFamily="34" charset="0"/>
              </a:rPr>
              <a:t>Resultado: el cliente solo ve horarios realmente disponibles y el negocio evita overbooking.</a:t>
            </a:r>
          </a:p>
        </p:txBody>
      </p:sp>
    </p:spTree>
    <p:extLst>
      <p:ext uri="{BB962C8B-B14F-4D97-AF65-F5344CB8AC3E}">
        <p14:creationId xmlns:p14="http://schemas.microsoft.com/office/powerpoint/2010/main" val="3219469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13F96FCE-93C5-4667-ECC0-D2DE5A11987A}"/>
              </a:ext>
            </a:extLst>
          </p:cNvPr>
          <p:cNvSpPr/>
          <p:nvPr/>
        </p:nvSpPr>
        <p:spPr>
          <a:xfrm>
            <a:off x="9525000" y="-1460500"/>
            <a:ext cx="4191000" cy="4191000"/>
          </a:xfrm>
          <a:prstGeom prst="ellipse">
            <a:avLst/>
          </a:prstGeom>
          <a:solidFill>
            <a:srgbClr val="EEE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A17AF11-F5BE-E48E-6649-1AF0CB9D7707}"/>
              </a:ext>
            </a:extLst>
          </p:cNvPr>
          <p:cNvSpPr/>
          <p:nvPr/>
        </p:nvSpPr>
        <p:spPr>
          <a:xfrm>
            <a:off x="-1460500" y="4826000"/>
            <a:ext cx="3683000" cy="3683000"/>
          </a:xfrm>
          <a:prstGeom prst="ellipse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775AAF6-4376-150B-6B26-4A6B1274B979}"/>
              </a:ext>
            </a:extLst>
          </p:cNvPr>
          <p:cNvSpPr/>
          <p:nvPr/>
        </p:nvSpPr>
        <p:spPr>
          <a:xfrm>
            <a:off x="10033000" y="5842000"/>
            <a:ext cx="1270000" cy="1778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526B624-8B41-0B0D-B9C8-57735C46DBA2}"/>
              </a:ext>
            </a:extLst>
          </p:cNvPr>
          <p:cNvSpPr/>
          <p:nvPr/>
        </p:nvSpPr>
        <p:spPr>
          <a:xfrm>
            <a:off x="8509000" y="5842000"/>
            <a:ext cx="1270000" cy="177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2BDDC24-AB91-C9B5-893B-C0445250B69C}"/>
              </a:ext>
            </a:extLst>
          </p:cNvPr>
          <p:cNvSpPr/>
          <p:nvPr/>
        </p:nvSpPr>
        <p:spPr>
          <a:xfrm>
            <a:off x="698500" y="444500"/>
            <a:ext cx="7366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B5B0D5-3349-B70D-9E84-5079599DE327}"/>
              </a:ext>
            </a:extLst>
          </p:cNvPr>
          <p:cNvSpPr txBox="1"/>
          <p:nvPr/>
        </p:nvSpPr>
        <p:spPr>
          <a:xfrm>
            <a:off x="698500" y="914400"/>
            <a:ext cx="965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191821"/>
                </a:solidFill>
                <a:latin typeface="Aptos Display" panose="020B0004020202020204" pitchFamily="34" charset="0"/>
              </a:rPr>
              <a:t>Portal del cliente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AE7F243-CF90-7F8D-302C-E78B90E01E58}"/>
              </a:ext>
            </a:extLst>
          </p:cNvPr>
          <p:cNvSpPr txBox="1"/>
          <p:nvPr/>
        </p:nvSpPr>
        <p:spPr>
          <a:xfrm>
            <a:off x="736600" y="1587500"/>
            <a:ext cx="1041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>
                <a:solidFill>
                  <a:srgbClr val="696776"/>
                </a:solidFill>
                <a:latin typeface="Aptos" panose="020B0004020202020204" pitchFamily="34" charset="0"/>
              </a:rPr>
              <a:t>La reserva se organiza en un flujo sencillo de tres pasos.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732F715-E846-BD30-E744-60B4B3077B26}"/>
              </a:ext>
            </a:extLst>
          </p:cNvPr>
          <p:cNvSpPr/>
          <p:nvPr/>
        </p:nvSpPr>
        <p:spPr>
          <a:xfrm>
            <a:off x="1143000" y="2095500"/>
            <a:ext cx="2667000" cy="3746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D8EB"/>
            </a:solidFill>
          </a:ln>
          <a:effectLst>
            <a:outerShdw blurRad="203200" dist="37357" dir="2700000" rotWithShape="0">
              <a:scrgbClr r="0" g="0" b="0">
                <a:alpha val="16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AC3C0B3-6FE9-3E90-9F6E-EAE6D765C686}"/>
              </a:ext>
            </a:extLst>
          </p:cNvPr>
          <p:cNvSpPr/>
          <p:nvPr/>
        </p:nvSpPr>
        <p:spPr>
          <a:xfrm>
            <a:off x="1587500" y="2324100"/>
            <a:ext cx="1778000" cy="101600"/>
          </a:xfrm>
          <a:prstGeom prst="roundRect">
            <a:avLst/>
          </a:prstGeom>
          <a:solidFill>
            <a:srgbClr val="E6E1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1AF2F44-8170-4D6D-8EBE-C4935ED5ECBC}"/>
              </a:ext>
            </a:extLst>
          </p:cNvPr>
          <p:cNvSpPr/>
          <p:nvPr/>
        </p:nvSpPr>
        <p:spPr>
          <a:xfrm>
            <a:off x="1968500" y="2794000"/>
            <a:ext cx="990600" cy="9906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>
                <a:solidFill>
                  <a:srgbClr val="7C3AED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DD5B242-7A52-2B03-19FF-6EB30311C17E}"/>
              </a:ext>
            </a:extLst>
          </p:cNvPr>
          <p:cNvSpPr txBox="1"/>
          <p:nvPr/>
        </p:nvSpPr>
        <p:spPr>
          <a:xfrm>
            <a:off x="1422400" y="4064000"/>
            <a:ext cx="21082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900" b="1">
                <a:solidFill>
                  <a:srgbClr val="191821"/>
                </a:solidFill>
                <a:latin typeface="Aptos Display" panose="020B0004020202020204" pitchFamily="34" charset="0"/>
              </a:rPr>
              <a:t>Elegir servicio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816FE7A-6F80-EA64-771B-C53E58B0770B}"/>
              </a:ext>
            </a:extLst>
          </p:cNvPr>
          <p:cNvSpPr txBox="1"/>
          <p:nvPr/>
        </p:nvSpPr>
        <p:spPr>
          <a:xfrm>
            <a:off x="1422400" y="4699000"/>
            <a:ext cx="21082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696776"/>
                </a:solidFill>
                <a:latin typeface="Aptos" panose="020B0004020202020204" pitchFamily="34" charset="0"/>
              </a:rPr>
              <a:t>Catálogo con duración y precio.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10CDC26-0210-205B-8995-DD287E346F89}"/>
              </a:ext>
            </a:extLst>
          </p:cNvPr>
          <p:cNvSpPr/>
          <p:nvPr/>
        </p:nvSpPr>
        <p:spPr>
          <a:xfrm>
            <a:off x="4762500" y="2095500"/>
            <a:ext cx="2667000" cy="3746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D8EB"/>
            </a:solidFill>
          </a:ln>
          <a:effectLst>
            <a:outerShdw blurRad="203200" dist="37357" dir="2700000" rotWithShape="0">
              <a:scrgbClr r="0" g="0" b="0">
                <a:alpha val="16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3E789CD7-2851-0ED3-D3A9-4F6E48EB385D}"/>
              </a:ext>
            </a:extLst>
          </p:cNvPr>
          <p:cNvSpPr/>
          <p:nvPr/>
        </p:nvSpPr>
        <p:spPr>
          <a:xfrm>
            <a:off x="5207000" y="2324100"/>
            <a:ext cx="1778000" cy="101600"/>
          </a:xfrm>
          <a:prstGeom prst="roundRect">
            <a:avLst/>
          </a:prstGeom>
          <a:solidFill>
            <a:srgbClr val="E6E1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C6B45ED-CBBF-B3D2-8CAA-5605146CD36E}"/>
              </a:ext>
            </a:extLst>
          </p:cNvPr>
          <p:cNvSpPr/>
          <p:nvPr/>
        </p:nvSpPr>
        <p:spPr>
          <a:xfrm>
            <a:off x="5588000" y="2794000"/>
            <a:ext cx="990600" cy="9906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>
                <a:solidFill>
                  <a:srgbClr val="10B981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D4B7A96-7CE5-052F-AC38-C63A9DE7C075}"/>
              </a:ext>
            </a:extLst>
          </p:cNvPr>
          <p:cNvSpPr txBox="1"/>
          <p:nvPr/>
        </p:nvSpPr>
        <p:spPr>
          <a:xfrm>
            <a:off x="5041900" y="4064000"/>
            <a:ext cx="21082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900" b="1">
                <a:solidFill>
                  <a:srgbClr val="191821"/>
                </a:solidFill>
                <a:latin typeface="Aptos Display" panose="020B0004020202020204" pitchFamily="34" charset="0"/>
              </a:rPr>
              <a:t>Elegir fecha y hora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FBAB494-9226-84A1-FDA2-51BC3352D550}"/>
              </a:ext>
            </a:extLst>
          </p:cNvPr>
          <p:cNvSpPr txBox="1"/>
          <p:nvPr/>
        </p:nvSpPr>
        <p:spPr>
          <a:xfrm>
            <a:off x="5041900" y="4699000"/>
            <a:ext cx="21082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696776"/>
                </a:solidFill>
                <a:latin typeface="Aptos" panose="020B0004020202020204" pitchFamily="34" charset="0"/>
              </a:rPr>
              <a:t>Disponibilidad calculada en tiempo real.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94A2AC25-08B5-A3A4-3911-2E931AA31F91}"/>
              </a:ext>
            </a:extLst>
          </p:cNvPr>
          <p:cNvSpPr/>
          <p:nvPr/>
        </p:nvSpPr>
        <p:spPr>
          <a:xfrm>
            <a:off x="8382000" y="2095500"/>
            <a:ext cx="2667000" cy="3746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D8EB"/>
            </a:solidFill>
          </a:ln>
          <a:effectLst>
            <a:outerShdw blurRad="203200" dist="37357" dir="2700000" rotWithShape="0">
              <a:scrgbClr r="0" g="0" b="0">
                <a:alpha val="16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51DDE3C5-8921-C903-8E7E-46732003ACFC}"/>
              </a:ext>
            </a:extLst>
          </p:cNvPr>
          <p:cNvSpPr/>
          <p:nvPr/>
        </p:nvSpPr>
        <p:spPr>
          <a:xfrm>
            <a:off x="8826500" y="2324100"/>
            <a:ext cx="1778000" cy="101600"/>
          </a:xfrm>
          <a:prstGeom prst="roundRect">
            <a:avLst/>
          </a:prstGeom>
          <a:solidFill>
            <a:srgbClr val="E6E1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800EF7B-711C-1942-9CCF-886F2AFE9794}"/>
              </a:ext>
            </a:extLst>
          </p:cNvPr>
          <p:cNvSpPr/>
          <p:nvPr/>
        </p:nvSpPr>
        <p:spPr>
          <a:xfrm>
            <a:off x="9207500" y="2794000"/>
            <a:ext cx="990600" cy="9906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>
                <a:solidFill>
                  <a:srgbClr val="7C3AED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8371DB0-7921-455C-3D58-EF49C170E897}"/>
              </a:ext>
            </a:extLst>
          </p:cNvPr>
          <p:cNvSpPr txBox="1"/>
          <p:nvPr/>
        </p:nvSpPr>
        <p:spPr>
          <a:xfrm>
            <a:off x="8661400" y="4064000"/>
            <a:ext cx="21082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900" b="1">
                <a:solidFill>
                  <a:srgbClr val="191821"/>
                </a:solidFill>
                <a:latin typeface="Aptos Display" panose="020B0004020202020204" pitchFamily="34" charset="0"/>
              </a:rPr>
              <a:t>Confirmar reserva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9CC5E24-4C70-80CD-2F10-46E385A72845}"/>
              </a:ext>
            </a:extLst>
          </p:cNvPr>
          <p:cNvSpPr txBox="1"/>
          <p:nvPr/>
        </p:nvSpPr>
        <p:spPr>
          <a:xfrm>
            <a:off x="8661400" y="4699000"/>
            <a:ext cx="21082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696776"/>
                </a:solidFill>
                <a:latin typeface="Aptos" panose="020B0004020202020204" pitchFamily="34" charset="0"/>
              </a:rPr>
              <a:t>Resumen final antes de crear la cita.</a:t>
            </a:r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14B8301F-4169-B0C6-0ED1-D22926A12374}"/>
              </a:ext>
            </a:extLst>
          </p:cNvPr>
          <p:cNvSpPr/>
          <p:nvPr/>
        </p:nvSpPr>
        <p:spPr>
          <a:xfrm>
            <a:off x="4000500" y="3810000"/>
            <a:ext cx="571500" cy="381000"/>
          </a:xfrm>
          <a:prstGeom prst="rightArrow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9CCEF760-BF4B-DBF6-A60F-AAE60A65304F}"/>
              </a:ext>
            </a:extLst>
          </p:cNvPr>
          <p:cNvSpPr/>
          <p:nvPr/>
        </p:nvSpPr>
        <p:spPr>
          <a:xfrm>
            <a:off x="7620000" y="3810000"/>
            <a:ext cx="571500" cy="381000"/>
          </a:xfrm>
          <a:prstGeom prst="rightArrow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7673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08D4AA3D-F19F-FF86-BA78-C28EEB16EF18}"/>
              </a:ext>
            </a:extLst>
          </p:cNvPr>
          <p:cNvSpPr/>
          <p:nvPr/>
        </p:nvSpPr>
        <p:spPr>
          <a:xfrm>
            <a:off x="9525000" y="-1460500"/>
            <a:ext cx="4191000" cy="4191000"/>
          </a:xfrm>
          <a:prstGeom prst="ellipse">
            <a:avLst/>
          </a:prstGeom>
          <a:solidFill>
            <a:srgbClr val="EEE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CCB5B992-8E05-8FF2-8950-18BE42402EAA}"/>
              </a:ext>
            </a:extLst>
          </p:cNvPr>
          <p:cNvSpPr/>
          <p:nvPr/>
        </p:nvSpPr>
        <p:spPr>
          <a:xfrm>
            <a:off x="-1460500" y="4826000"/>
            <a:ext cx="3683000" cy="3683000"/>
          </a:xfrm>
          <a:prstGeom prst="ellipse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607F59F-5590-9D66-7127-C99F488B916F}"/>
              </a:ext>
            </a:extLst>
          </p:cNvPr>
          <p:cNvSpPr/>
          <p:nvPr/>
        </p:nvSpPr>
        <p:spPr>
          <a:xfrm>
            <a:off x="10033000" y="5842000"/>
            <a:ext cx="1270000" cy="1778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81EBFBB-F66F-F3FA-20EE-6994C962D3B0}"/>
              </a:ext>
            </a:extLst>
          </p:cNvPr>
          <p:cNvSpPr/>
          <p:nvPr/>
        </p:nvSpPr>
        <p:spPr>
          <a:xfrm>
            <a:off x="8509000" y="5842000"/>
            <a:ext cx="1270000" cy="177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4FEE7D6-94D6-9486-AC8D-F30D1BBB82F6}"/>
              </a:ext>
            </a:extLst>
          </p:cNvPr>
          <p:cNvSpPr/>
          <p:nvPr/>
        </p:nvSpPr>
        <p:spPr>
          <a:xfrm>
            <a:off x="698500" y="444500"/>
            <a:ext cx="7366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106AD8A-ACE3-7797-247C-489BA43E715F}"/>
              </a:ext>
            </a:extLst>
          </p:cNvPr>
          <p:cNvSpPr txBox="1"/>
          <p:nvPr/>
        </p:nvSpPr>
        <p:spPr>
          <a:xfrm>
            <a:off x="698500" y="914400"/>
            <a:ext cx="965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191821"/>
                </a:solidFill>
                <a:latin typeface="Aptos Display" panose="020B0004020202020204" pitchFamily="34" charset="0"/>
              </a:rPr>
              <a:t>Panel de administración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12CE07F-51CB-2132-E73B-E124C3631A25}"/>
              </a:ext>
            </a:extLst>
          </p:cNvPr>
          <p:cNvSpPr txBox="1"/>
          <p:nvPr/>
        </p:nvSpPr>
        <p:spPr>
          <a:xfrm>
            <a:off x="736600" y="1587500"/>
            <a:ext cx="1041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>
                <a:solidFill>
                  <a:srgbClr val="696776"/>
                </a:solidFill>
                <a:latin typeface="Aptos" panose="020B0004020202020204" pitchFamily="34" charset="0"/>
              </a:rPr>
              <a:t>El negocio dispone de una herramienta privada para controlar la agenda, clientes y configuración.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D2B0C51-D46D-5A38-3A4F-21FF8FC19794}"/>
              </a:ext>
            </a:extLst>
          </p:cNvPr>
          <p:cNvSpPr/>
          <p:nvPr/>
        </p:nvSpPr>
        <p:spPr>
          <a:xfrm>
            <a:off x="889000" y="1968500"/>
            <a:ext cx="5969000" cy="40640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203200" dist="37357" dir="2700000" rotWithShape="0">
              <a:scrgbClr r="0" g="0" b="0">
                <a:alpha val="16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08F27D16-9ABB-41F6-5D6C-42159046D8A6}"/>
              </a:ext>
            </a:extLst>
          </p:cNvPr>
          <p:cNvSpPr/>
          <p:nvPr/>
        </p:nvSpPr>
        <p:spPr>
          <a:xfrm>
            <a:off x="889000" y="1968500"/>
            <a:ext cx="1397000" cy="4064000"/>
          </a:xfrm>
          <a:prstGeom prst="roundRect">
            <a:avLst/>
          </a:prstGeom>
          <a:solidFill>
            <a:srgbClr val="F5F3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4C2F25B-6616-2274-BD40-768E0C94EFFF}"/>
              </a:ext>
            </a:extLst>
          </p:cNvPr>
          <p:cNvSpPr txBox="1"/>
          <p:nvPr/>
        </p:nvSpPr>
        <p:spPr>
          <a:xfrm>
            <a:off x="1117600" y="2247900"/>
            <a:ext cx="114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191821"/>
                </a:solidFill>
                <a:latin typeface="Aptos" panose="020B0004020202020204" pitchFamily="34" charset="0"/>
              </a:rPr>
              <a:t>Atelier Admin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784BF55-D6EC-896F-3C24-D874923AD785}"/>
              </a:ext>
            </a:extLst>
          </p:cNvPr>
          <p:cNvSpPr txBox="1"/>
          <p:nvPr/>
        </p:nvSpPr>
        <p:spPr>
          <a:xfrm>
            <a:off x="1117600" y="2857500"/>
            <a:ext cx="10795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696776"/>
                </a:solidFill>
                <a:latin typeface="Aptos" panose="020B0004020202020204" pitchFamily="34" charset="0"/>
              </a:rPr>
              <a:t>Dashboard</a:t>
            </a:r>
          </a:p>
          <a:p>
            <a:r>
              <a:rPr lang="es-ES" sz="1200">
                <a:solidFill>
                  <a:srgbClr val="696776"/>
                </a:solidFill>
                <a:latin typeface="Aptos" panose="020B0004020202020204" pitchFamily="34" charset="0"/>
              </a:rPr>
              <a:t>Calendario</a:t>
            </a:r>
          </a:p>
          <a:p>
            <a:r>
              <a:rPr lang="es-ES" sz="1200">
                <a:solidFill>
                  <a:srgbClr val="696776"/>
                </a:solidFill>
                <a:latin typeface="Aptos" panose="020B0004020202020204" pitchFamily="34" charset="0"/>
              </a:rPr>
              <a:t>Servicios</a:t>
            </a:r>
          </a:p>
          <a:p>
            <a:r>
              <a:rPr lang="es-ES" sz="1200">
                <a:solidFill>
                  <a:srgbClr val="696776"/>
                </a:solidFill>
                <a:latin typeface="Aptos" panose="020B0004020202020204" pitchFamily="34" charset="0"/>
              </a:rPr>
              <a:t>Clientes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F76A005-52E1-6BA8-641E-7D57E372CAC3}"/>
              </a:ext>
            </a:extLst>
          </p:cNvPr>
          <p:cNvSpPr/>
          <p:nvPr/>
        </p:nvSpPr>
        <p:spPr>
          <a:xfrm>
            <a:off x="2603500" y="2667000"/>
            <a:ext cx="1041400" cy="787400"/>
          </a:xfrm>
          <a:prstGeom prst="roundRect">
            <a:avLst/>
          </a:prstGeom>
          <a:solidFill>
            <a:srgbClr val="FAFAFD"/>
          </a:solidFill>
          <a:ln>
            <a:solidFill>
              <a:srgbClr val="E8E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D5C6AB0-E153-B5FF-867D-98B0D937B0A2}"/>
              </a:ext>
            </a:extLst>
          </p:cNvPr>
          <p:cNvSpPr/>
          <p:nvPr/>
        </p:nvSpPr>
        <p:spPr>
          <a:xfrm>
            <a:off x="3873500" y="2667000"/>
            <a:ext cx="1041400" cy="787400"/>
          </a:xfrm>
          <a:prstGeom prst="roundRect">
            <a:avLst/>
          </a:prstGeom>
          <a:solidFill>
            <a:srgbClr val="FAFAFD"/>
          </a:solidFill>
          <a:ln>
            <a:solidFill>
              <a:srgbClr val="E8E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31970A1-63C2-2880-7392-4DB1F5D68917}"/>
              </a:ext>
            </a:extLst>
          </p:cNvPr>
          <p:cNvSpPr/>
          <p:nvPr/>
        </p:nvSpPr>
        <p:spPr>
          <a:xfrm>
            <a:off x="5143500" y="2667000"/>
            <a:ext cx="1041400" cy="787400"/>
          </a:xfrm>
          <a:prstGeom prst="roundRect">
            <a:avLst/>
          </a:prstGeom>
          <a:solidFill>
            <a:srgbClr val="FAFAFD"/>
          </a:solidFill>
          <a:ln>
            <a:solidFill>
              <a:srgbClr val="E8E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DF0B0DBD-8D2C-9D2B-62CF-C15C09D092BA}"/>
              </a:ext>
            </a:extLst>
          </p:cNvPr>
          <p:cNvSpPr/>
          <p:nvPr/>
        </p:nvSpPr>
        <p:spPr>
          <a:xfrm>
            <a:off x="2692400" y="2921000"/>
            <a:ext cx="825500" cy="3048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10B981"/>
                </a:solidFill>
                <a:latin typeface="Aptos" panose="020B0004020202020204" pitchFamily="34" charset="0"/>
              </a:rPr>
              <a:t>350 €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1D2A411-C60B-9FFA-5109-C2E1A5C7A90F}"/>
              </a:ext>
            </a:extLst>
          </p:cNvPr>
          <p:cNvSpPr/>
          <p:nvPr/>
        </p:nvSpPr>
        <p:spPr>
          <a:xfrm>
            <a:off x="3962400" y="2921000"/>
            <a:ext cx="825500" cy="3048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2FA26B9-9CDC-0E70-2ACC-B68A82E583E9}"/>
              </a:ext>
            </a:extLst>
          </p:cNvPr>
          <p:cNvSpPr/>
          <p:nvPr/>
        </p:nvSpPr>
        <p:spPr>
          <a:xfrm>
            <a:off x="5232400" y="2921000"/>
            <a:ext cx="825500" cy="3048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10B981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E5D89994-FE0F-0DB0-6787-D4C597A46894}"/>
              </a:ext>
            </a:extLst>
          </p:cNvPr>
          <p:cNvSpPr/>
          <p:nvPr/>
        </p:nvSpPr>
        <p:spPr>
          <a:xfrm>
            <a:off x="2603500" y="4000500"/>
            <a:ext cx="3937000" cy="1460500"/>
          </a:xfrm>
          <a:prstGeom prst="roundRect">
            <a:avLst/>
          </a:prstGeom>
          <a:solidFill>
            <a:srgbClr val="FAFAFD"/>
          </a:solidFill>
          <a:ln>
            <a:solidFill>
              <a:srgbClr val="E8E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32A38FF-239B-1206-23F4-EB7188DC00C5}"/>
              </a:ext>
            </a:extLst>
          </p:cNvPr>
          <p:cNvSpPr txBox="1"/>
          <p:nvPr/>
        </p:nvSpPr>
        <p:spPr>
          <a:xfrm>
            <a:off x="2857500" y="4229100"/>
            <a:ext cx="190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191821"/>
                </a:solidFill>
                <a:latin typeface="Aptos" panose="020B0004020202020204" pitchFamily="34" charset="0"/>
              </a:rPr>
              <a:t>Agenda del día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1CC1197-C5ED-588B-1234-0A14E976DDBF}"/>
              </a:ext>
            </a:extLst>
          </p:cNvPr>
          <p:cNvSpPr txBox="1"/>
          <p:nvPr/>
        </p:nvSpPr>
        <p:spPr>
          <a:xfrm>
            <a:off x="2857500" y="4699000"/>
            <a:ext cx="3175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696776"/>
                </a:solidFill>
                <a:latin typeface="Aptos" panose="020B0004020202020204" pitchFamily="34" charset="0"/>
              </a:rPr>
              <a:t>09:30  Corte completo</a:t>
            </a:r>
          </a:p>
          <a:p>
            <a:r>
              <a:rPr lang="es-ES" sz="1200">
                <a:solidFill>
                  <a:srgbClr val="696776"/>
                </a:solidFill>
                <a:latin typeface="Aptos" panose="020B0004020202020204" pitchFamily="34" charset="0"/>
              </a:rPr>
              <a:t>11:00  Mechas</a:t>
            </a:r>
          </a:p>
          <a:p>
            <a:r>
              <a:rPr lang="es-ES" sz="1200">
                <a:solidFill>
                  <a:srgbClr val="696776"/>
                </a:solidFill>
                <a:latin typeface="Aptos" panose="020B0004020202020204" pitchFamily="34" charset="0"/>
              </a:rPr>
              <a:t>13:15  Tratamiento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808789A3-A336-5F3B-FCC4-4AC44D8DB426}"/>
              </a:ext>
            </a:extLst>
          </p:cNvPr>
          <p:cNvSpPr/>
          <p:nvPr/>
        </p:nvSpPr>
        <p:spPr>
          <a:xfrm>
            <a:off x="7429500" y="2159000"/>
            <a:ext cx="3937000" cy="33655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3446153-EE63-46C0-CFA5-3030759CACE8}"/>
              </a:ext>
            </a:extLst>
          </p:cNvPr>
          <p:cNvSpPr txBox="1"/>
          <p:nvPr/>
        </p:nvSpPr>
        <p:spPr>
          <a:xfrm>
            <a:off x="7747000" y="2476500"/>
            <a:ext cx="3302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100" b="1">
                <a:solidFill>
                  <a:srgbClr val="191821"/>
                </a:solidFill>
                <a:latin typeface="Aptos Display" panose="020B0004020202020204" pitchFamily="34" charset="0"/>
              </a:rPr>
              <a:t>Funciones principales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4FD3CD1-CA22-7352-9DDC-C7D9B5486484}"/>
              </a:ext>
            </a:extLst>
          </p:cNvPr>
          <p:cNvSpPr txBox="1"/>
          <p:nvPr/>
        </p:nvSpPr>
        <p:spPr>
          <a:xfrm>
            <a:off x="7747000" y="3111500"/>
            <a:ext cx="3302000" cy="138499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464452"/>
                </a:solidFill>
                <a:latin typeface="Aptos" panose="020B0004020202020204" pitchFamily="34" charset="0"/>
              </a:rPr>
              <a:t>Dashboard con citas y métricas</a:t>
            </a:r>
          </a:p>
          <a:p>
            <a:r>
              <a:rPr lang="es-ES" sz="1500">
                <a:solidFill>
                  <a:srgbClr val="464452"/>
                </a:solidFill>
                <a:latin typeface="Aptos" panose="020B0004020202020204" pitchFamily="34" charset="0"/>
              </a:rPr>
              <a:t>Calendario semanal y diario</a:t>
            </a:r>
          </a:p>
          <a:p>
            <a:r>
              <a:rPr lang="es-ES" sz="1500">
                <a:solidFill>
                  <a:srgbClr val="464452"/>
                </a:solidFill>
                <a:latin typeface="Aptos" panose="020B0004020202020204" pitchFamily="34" charset="0"/>
              </a:rPr>
              <a:t>Gestión de servicios</a:t>
            </a:r>
          </a:p>
          <a:p>
            <a:r>
              <a:rPr lang="es-ES" sz="1500">
                <a:solidFill>
                  <a:srgbClr val="464452"/>
                </a:solidFill>
                <a:latin typeface="Aptos" panose="020B0004020202020204" pitchFamily="34" charset="0"/>
              </a:rPr>
              <a:t>Gestión de profesionales</a:t>
            </a:r>
          </a:p>
          <a:p>
            <a:r>
              <a:rPr lang="es-ES" sz="1500">
                <a:solidFill>
                  <a:srgbClr val="464452"/>
                </a:solidFill>
                <a:latin typeface="Aptos" panose="020B0004020202020204" pitchFamily="34" charset="0"/>
              </a:rPr>
              <a:t>Bloqueos y vacaciones</a:t>
            </a:r>
          </a:p>
          <a:p>
            <a:r>
              <a:rPr lang="es-ES" sz="1500">
                <a:solidFill>
                  <a:srgbClr val="464452"/>
                </a:solidFill>
                <a:latin typeface="Aptos" panose="020B0004020202020204" pitchFamily="34" charset="0"/>
              </a:rPr>
              <a:t>Notas técnicas de clientes</a:t>
            </a:r>
          </a:p>
        </p:txBody>
      </p:sp>
    </p:spTree>
    <p:extLst>
      <p:ext uri="{BB962C8B-B14F-4D97-AF65-F5344CB8AC3E}">
        <p14:creationId xmlns:p14="http://schemas.microsoft.com/office/powerpoint/2010/main" val="1826446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C4D84760-E4A8-EB06-9A14-886EAC18C7E2}"/>
              </a:ext>
            </a:extLst>
          </p:cNvPr>
          <p:cNvSpPr/>
          <p:nvPr/>
        </p:nvSpPr>
        <p:spPr>
          <a:xfrm>
            <a:off x="9525000" y="-1460500"/>
            <a:ext cx="4191000" cy="4191000"/>
          </a:xfrm>
          <a:prstGeom prst="ellipse">
            <a:avLst/>
          </a:prstGeom>
          <a:solidFill>
            <a:srgbClr val="EEE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C3B8E483-E227-1424-FE4E-5D955BE701F7}"/>
              </a:ext>
            </a:extLst>
          </p:cNvPr>
          <p:cNvSpPr/>
          <p:nvPr/>
        </p:nvSpPr>
        <p:spPr>
          <a:xfrm>
            <a:off x="-1460500" y="4826000"/>
            <a:ext cx="3683000" cy="3683000"/>
          </a:xfrm>
          <a:prstGeom prst="ellipse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A7B80CC-580B-6159-4B9D-F6EF82629F88}"/>
              </a:ext>
            </a:extLst>
          </p:cNvPr>
          <p:cNvSpPr/>
          <p:nvPr/>
        </p:nvSpPr>
        <p:spPr>
          <a:xfrm>
            <a:off x="10033000" y="5842000"/>
            <a:ext cx="1270000" cy="1778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1F86A22-F1AC-DEB5-AD8D-9BD0C54DE71F}"/>
              </a:ext>
            </a:extLst>
          </p:cNvPr>
          <p:cNvSpPr/>
          <p:nvPr/>
        </p:nvSpPr>
        <p:spPr>
          <a:xfrm>
            <a:off x="8509000" y="5842000"/>
            <a:ext cx="1270000" cy="177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1126DFA-EE00-B023-EF63-9162983D961D}"/>
              </a:ext>
            </a:extLst>
          </p:cNvPr>
          <p:cNvSpPr/>
          <p:nvPr/>
        </p:nvSpPr>
        <p:spPr>
          <a:xfrm>
            <a:off x="698500" y="444500"/>
            <a:ext cx="7366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EB09D3F-EE99-2966-1A72-0032E03AAE1B}"/>
              </a:ext>
            </a:extLst>
          </p:cNvPr>
          <p:cNvSpPr txBox="1"/>
          <p:nvPr/>
        </p:nvSpPr>
        <p:spPr>
          <a:xfrm>
            <a:off x="698500" y="914400"/>
            <a:ext cx="965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191821"/>
                </a:solidFill>
                <a:latin typeface="Aptos Display" panose="020B0004020202020204" pitchFamily="34" charset="0"/>
              </a:rPr>
              <a:t>Demo de funcionamiento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0F2116-F038-1CC6-1AA9-2042350A375A}"/>
              </a:ext>
            </a:extLst>
          </p:cNvPr>
          <p:cNvSpPr txBox="1"/>
          <p:nvPr/>
        </p:nvSpPr>
        <p:spPr>
          <a:xfrm>
            <a:off x="736600" y="1587500"/>
            <a:ext cx="1041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>
                <a:solidFill>
                  <a:srgbClr val="696776"/>
                </a:solidFill>
                <a:latin typeface="Aptos" panose="020B0004020202020204" pitchFamily="34" charset="0"/>
              </a:rPr>
              <a:t>Espacio reservado para insertar un vídeo breve y evitar problemas del directo.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87401B3-C8F9-4C4D-F730-A6C3A5AC5A58}"/>
              </a:ext>
            </a:extLst>
          </p:cNvPr>
          <p:cNvSpPr/>
          <p:nvPr/>
        </p:nvSpPr>
        <p:spPr>
          <a:xfrm>
            <a:off x="1460500" y="1841500"/>
            <a:ext cx="9271000" cy="4254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CCE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1F8D4E3-4366-EE69-7F63-EDAE78885BAA}"/>
              </a:ext>
            </a:extLst>
          </p:cNvPr>
          <p:cNvSpPr/>
          <p:nvPr/>
        </p:nvSpPr>
        <p:spPr>
          <a:xfrm>
            <a:off x="5461000" y="3206750"/>
            <a:ext cx="1270000" cy="12700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>
                <a:solidFill>
                  <a:srgbClr val="7C3AED"/>
                </a:solidFill>
                <a:latin typeface="Aptos Display" panose="020B0004020202020204" pitchFamily="34" charset="0"/>
              </a:rPr>
              <a:t>PLAY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E01B3CB-2491-0E97-7C0A-2C9BA5752EBA}"/>
              </a:ext>
            </a:extLst>
          </p:cNvPr>
          <p:cNvSpPr txBox="1"/>
          <p:nvPr/>
        </p:nvSpPr>
        <p:spPr>
          <a:xfrm>
            <a:off x="4127500" y="4762500"/>
            <a:ext cx="444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400" b="1">
                <a:solidFill>
                  <a:srgbClr val="191821"/>
                </a:solidFill>
                <a:latin typeface="Aptos Display" panose="020B0004020202020204" pitchFamily="34" charset="0"/>
              </a:rPr>
              <a:t>Pegar aquí el vídeo de la demo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CA8B75-D0B7-AF0E-6B01-8B59BF7F0C5E}"/>
              </a:ext>
            </a:extLst>
          </p:cNvPr>
          <p:cNvSpPr txBox="1"/>
          <p:nvPr/>
        </p:nvSpPr>
        <p:spPr>
          <a:xfrm>
            <a:off x="3619500" y="5334000"/>
            <a:ext cx="558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696776"/>
                </a:solidFill>
                <a:latin typeface="Aptos" panose="020B0004020202020204" pitchFamily="34" charset="0"/>
              </a:rPr>
              <a:t>Mostrar: login, reserva en tres pasos, panel admin y calendario.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C1B94A1-D88D-D2BB-D816-3978C4BB0FB3}"/>
              </a:ext>
            </a:extLst>
          </p:cNvPr>
          <p:cNvSpPr txBox="1"/>
          <p:nvPr/>
        </p:nvSpPr>
        <p:spPr>
          <a:xfrm>
            <a:off x="3810000" y="6350000"/>
            <a:ext cx="5080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696776"/>
                </a:solidFill>
                <a:latin typeface="Aptos" panose="020B0004020202020204" pitchFamily="34" charset="0"/>
              </a:rPr>
              <a:t>Duración recomendada: 1 minuto / 1 minuto y medio máximo.</a:t>
            </a:r>
          </a:p>
        </p:txBody>
      </p:sp>
    </p:spTree>
    <p:extLst>
      <p:ext uri="{BB962C8B-B14F-4D97-AF65-F5344CB8AC3E}">
        <p14:creationId xmlns:p14="http://schemas.microsoft.com/office/powerpoint/2010/main" val="515745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107D66B5-3C80-DC5D-280A-6CC43BCDAB3D}"/>
              </a:ext>
            </a:extLst>
          </p:cNvPr>
          <p:cNvSpPr/>
          <p:nvPr/>
        </p:nvSpPr>
        <p:spPr>
          <a:xfrm>
            <a:off x="9525000" y="-1460500"/>
            <a:ext cx="4191000" cy="4191000"/>
          </a:xfrm>
          <a:prstGeom prst="ellipse">
            <a:avLst/>
          </a:prstGeom>
          <a:solidFill>
            <a:srgbClr val="EEE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E2D2A0B-9663-CE9B-1EAD-E3D6038ED21B}"/>
              </a:ext>
            </a:extLst>
          </p:cNvPr>
          <p:cNvSpPr/>
          <p:nvPr/>
        </p:nvSpPr>
        <p:spPr>
          <a:xfrm>
            <a:off x="-1460500" y="4826000"/>
            <a:ext cx="3683000" cy="3683000"/>
          </a:xfrm>
          <a:prstGeom prst="ellipse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37FB945-BBD2-0DB9-9694-85D0014158EB}"/>
              </a:ext>
            </a:extLst>
          </p:cNvPr>
          <p:cNvSpPr/>
          <p:nvPr/>
        </p:nvSpPr>
        <p:spPr>
          <a:xfrm>
            <a:off x="10033000" y="5842000"/>
            <a:ext cx="1270000" cy="1778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9C5EAB3-FAE6-8653-C979-DCCEFB90E325}"/>
              </a:ext>
            </a:extLst>
          </p:cNvPr>
          <p:cNvSpPr/>
          <p:nvPr/>
        </p:nvSpPr>
        <p:spPr>
          <a:xfrm>
            <a:off x="8509000" y="5842000"/>
            <a:ext cx="1270000" cy="177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6BB905A-5B6E-2091-76C4-B99372A00E47}"/>
              </a:ext>
            </a:extLst>
          </p:cNvPr>
          <p:cNvSpPr/>
          <p:nvPr/>
        </p:nvSpPr>
        <p:spPr>
          <a:xfrm>
            <a:off x="698500" y="444500"/>
            <a:ext cx="7366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B13E86-06CA-DC1D-4402-74D8AC4B7727}"/>
              </a:ext>
            </a:extLst>
          </p:cNvPr>
          <p:cNvSpPr txBox="1"/>
          <p:nvPr/>
        </p:nvSpPr>
        <p:spPr>
          <a:xfrm>
            <a:off x="698500" y="914400"/>
            <a:ext cx="965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191821"/>
                </a:solidFill>
                <a:latin typeface="Aptos Display" panose="020B0004020202020204" pitchFamily="34" charset="0"/>
              </a:rPr>
              <a:t>Dificultades técnicas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9228CBD-E62F-AF9D-CBA2-964C696AEDF5}"/>
              </a:ext>
            </a:extLst>
          </p:cNvPr>
          <p:cNvSpPr txBox="1"/>
          <p:nvPr/>
        </p:nvSpPr>
        <p:spPr>
          <a:xfrm>
            <a:off x="736600" y="1587500"/>
            <a:ext cx="1041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>
                <a:solidFill>
                  <a:srgbClr val="696776"/>
                </a:solidFill>
                <a:latin typeface="Aptos" panose="020B0004020202020204" pitchFamily="34" charset="0"/>
              </a:rPr>
              <a:t>Los principales retos estuvieron en la gestión temporal, disponibilidad y sincronización del frontend.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D5975B7-0958-FB6F-5F62-D84AFAEFA8B9}"/>
              </a:ext>
            </a:extLst>
          </p:cNvPr>
          <p:cNvSpPr/>
          <p:nvPr/>
        </p:nvSpPr>
        <p:spPr>
          <a:xfrm>
            <a:off x="952500" y="2159000"/>
            <a:ext cx="3302000" cy="29845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52400" dist="37357" dir="27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23FAC35-1F08-1773-5146-3D8C68D8EA62}"/>
              </a:ext>
            </a:extLst>
          </p:cNvPr>
          <p:cNvSpPr/>
          <p:nvPr/>
        </p:nvSpPr>
        <p:spPr>
          <a:xfrm>
            <a:off x="2032000" y="2476500"/>
            <a:ext cx="1016000" cy="10160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>
                <a:solidFill>
                  <a:srgbClr val="7C3AED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4A3F8-FE3E-609D-25BE-CE34E66770D8}"/>
              </a:ext>
            </a:extLst>
          </p:cNvPr>
          <p:cNvSpPr txBox="1"/>
          <p:nvPr/>
        </p:nvSpPr>
        <p:spPr>
          <a:xfrm>
            <a:off x="1270000" y="3746500"/>
            <a:ext cx="266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000" b="1">
                <a:solidFill>
                  <a:srgbClr val="191821"/>
                </a:solidFill>
                <a:latin typeface="Aptos Display" panose="020B0004020202020204" pitchFamily="34" charset="0"/>
              </a:rPr>
              <a:t>Zonas horarias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AE20F67-C5EA-8200-9AA6-BDA2E7BF063A}"/>
              </a:ext>
            </a:extLst>
          </p:cNvPr>
          <p:cNvSpPr txBox="1"/>
          <p:nvPr/>
        </p:nvSpPr>
        <p:spPr>
          <a:xfrm>
            <a:off x="1270000" y="4292600"/>
            <a:ext cx="2667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696776"/>
                </a:solidFill>
                <a:latin typeface="Aptos" panose="020B0004020202020204" pitchFamily="34" charset="0"/>
              </a:rPr>
              <a:t>Fechas guardadas en UTC y mostradas en la zona horaria local del negocio.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06810183-AE2E-E82A-5742-EB1C87075360}"/>
              </a:ext>
            </a:extLst>
          </p:cNvPr>
          <p:cNvSpPr/>
          <p:nvPr/>
        </p:nvSpPr>
        <p:spPr>
          <a:xfrm>
            <a:off x="4445000" y="2159000"/>
            <a:ext cx="3302000" cy="29845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52400" dist="37357" dir="27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32214AE-A205-1987-A46A-A92A23F66F71}"/>
              </a:ext>
            </a:extLst>
          </p:cNvPr>
          <p:cNvSpPr/>
          <p:nvPr/>
        </p:nvSpPr>
        <p:spPr>
          <a:xfrm>
            <a:off x="5524500" y="2476500"/>
            <a:ext cx="1016000" cy="10160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>
                <a:solidFill>
                  <a:srgbClr val="10B981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641EA0A-C136-409E-FFD5-4C7F1635D43A}"/>
              </a:ext>
            </a:extLst>
          </p:cNvPr>
          <p:cNvSpPr txBox="1"/>
          <p:nvPr/>
        </p:nvSpPr>
        <p:spPr>
          <a:xfrm>
            <a:off x="4762500" y="3746500"/>
            <a:ext cx="266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000" b="1">
                <a:solidFill>
                  <a:srgbClr val="191821"/>
                </a:solidFill>
                <a:latin typeface="Aptos Display" panose="020B0004020202020204" pitchFamily="34" charset="0"/>
              </a:rPr>
              <a:t>Duraciones variables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2780113-FDA4-D8CC-B81C-4A3A8954BEEB}"/>
              </a:ext>
            </a:extLst>
          </p:cNvPr>
          <p:cNvSpPr txBox="1"/>
          <p:nvPr/>
        </p:nvSpPr>
        <p:spPr>
          <a:xfrm>
            <a:off x="4762500" y="4292600"/>
            <a:ext cx="2667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696776"/>
                </a:solidFill>
                <a:latin typeface="Aptos" panose="020B0004020202020204" pitchFamily="34" charset="0"/>
              </a:rPr>
              <a:t>Un servicio puede bloquear un slot operativo mayor para evitar fragmentación.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E791B4A7-2B3E-6F23-E6DA-E21687C0B8BD}"/>
              </a:ext>
            </a:extLst>
          </p:cNvPr>
          <p:cNvSpPr/>
          <p:nvPr/>
        </p:nvSpPr>
        <p:spPr>
          <a:xfrm>
            <a:off x="7937500" y="2159000"/>
            <a:ext cx="3302000" cy="2984500"/>
          </a:xfrm>
          <a:prstGeom prst="roundRect">
            <a:avLst/>
          </a:prstGeom>
          <a:solidFill>
            <a:srgbClr val="FFFFFF"/>
          </a:solidFill>
          <a:ln>
            <a:solidFill>
              <a:srgbClr val="E8E4F2"/>
            </a:solidFill>
          </a:ln>
          <a:effectLst>
            <a:outerShdw blurRad="152400" dist="37357" dir="27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F2E71986-2351-839F-6CDD-9D17985F1D21}"/>
              </a:ext>
            </a:extLst>
          </p:cNvPr>
          <p:cNvSpPr/>
          <p:nvPr/>
        </p:nvSpPr>
        <p:spPr>
          <a:xfrm>
            <a:off x="9017000" y="2476500"/>
            <a:ext cx="1016000" cy="10160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>
                <a:solidFill>
                  <a:srgbClr val="7C3AED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BB08194-6F71-3602-C487-B602CC209BF0}"/>
              </a:ext>
            </a:extLst>
          </p:cNvPr>
          <p:cNvSpPr txBox="1"/>
          <p:nvPr/>
        </p:nvSpPr>
        <p:spPr>
          <a:xfrm>
            <a:off x="8255000" y="3746500"/>
            <a:ext cx="266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000" b="1">
                <a:solidFill>
                  <a:srgbClr val="191821"/>
                </a:solidFill>
                <a:latin typeface="Aptos Display" panose="020B0004020202020204" pitchFamily="34" charset="0"/>
              </a:rPr>
              <a:t>Caché frontend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E5328F4-54F3-7C32-32D3-874FC0E658E5}"/>
              </a:ext>
            </a:extLst>
          </p:cNvPr>
          <p:cNvSpPr txBox="1"/>
          <p:nvPr/>
        </p:nvSpPr>
        <p:spPr>
          <a:xfrm>
            <a:off x="8255000" y="4292600"/>
            <a:ext cx="2667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696776"/>
                </a:solidFill>
                <a:latin typeface="Aptos" panose="020B0004020202020204" pitchFamily="34" charset="0"/>
              </a:rPr>
              <a:t>React Query invalida datos tras cada cambio para mantener la interfaz sincronizada.</a:t>
            </a:r>
          </a:p>
        </p:txBody>
      </p:sp>
    </p:spTree>
    <p:extLst>
      <p:ext uri="{BB962C8B-B14F-4D97-AF65-F5344CB8AC3E}">
        <p14:creationId xmlns:p14="http://schemas.microsoft.com/office/powerpoint/2010/main" val="3338075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D52D3DE6-001B-6BFA-B4A5-4DC23CC13FEC}"/>
              </a:ext>
            </a:extLst>
          </p:cNvPr>
          <p:cNvSpPr/>
          <p:nvPr/>
        </p:nvSpPr>
        <p:spPr>
          <a:xfrm>
            <a:off x="9525000" y="-1460500"/>
            <a:ext cx="4191000" cy="4191000"/>
          </a:xfrm>
          <a:prstGeom prst="ellipse">
            <a:avLst/>
          </a:prstGeom>
          <a:solidFill>
            <a:srgbClr val="EEE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053D0B6B-5864-B4AE-BFA7-1A2A89E0B4D6}"/>
              </a:ext>
            </a:extLst>
          </p:cNvPr>
          <p:cNvSpPr/>
          <p:nvPr/>
        </p:nvSpPr>
        <p:spPr>
          <a:xfrm>
            <a:off x="-1460500" y="4826000"/>
            <a:ext cx="3683000" cy="3683000"/>
          </a:xfrm>
          <a:prstGeom prst="ellipse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2339694-F70A-80B2-9E94-F052B7FD3AAC}"/>
              </a:ext>
            </a:extLst>
          </p:cNvPr>
          <p:cNvSpPr/>
          <p:nvPr/>
        </p:nvSpPr>
        <p:spPr>
          <a:xfrm>
            <a:off x="10033000" y="5842000"/>
            <a:ext cx="1270000" cy="1778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0FBBE64-A51A-8AE2-9373-15247C0C9F06}"/>
              </a:ext>
            </a:extLst>
          </p:cNvPr>
          <p:cNvSpPr/>
          <p:nvPr/>
        </p:nvSpPr>
        <p:spPr>
          <a:xfrm>
            <a:off x="8509000" y="5842000"/>
            <a:ext cx="1270000" cy="177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5814DEC-9D03-C79B-837B-C521C54A2469}"/>
              </a:ext>
            </a:extLst>
          </p:cNvPr>
          <p:cNvSpPr/>
          <p:nvPr/>
        </p:nvSpPr>
        <p:spPr>
          <a:xfrm>
            <a:off x="698500" y="444500"/>
            <a:ext cx="736600" cy="355600"/>
          </a:xfrm>
          <a:prstGeom prst="roundRect">
            <a:avLst/>
          </a:prstGeom>
          <a:solidFill>
            <a:srgbClr val="F4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7C3AED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F19BDCA-8B5B-36D6-81F5-214C39C336D7}"/>
              </a:ext>
            </a:extLst>
          </p:cNvPr>
          <p:cNvSpPr txBox="1"/>
          <p:nvPr/>
        </p:nvSpPr>
        <p:spPr>
          <a:xfrm>
            <a:off x="698500" y="914400"/>
            <a:ext cx="965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191821"/>
                </a:solidFill>
                <a:latin typeface="Aptos Display" panose="020B0004020202020204" pitchFamily="34" charset="0"/>
              </a:rPr>
              <a:t>Conclusiones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84CC73C-0590-7460-54BC-8FF7751A417C}"/>
              </a:ext>
            </a:extLst>
          </p:cNvPr>
          <p:cNvSpPr txBox="1"/>
          <p:nvPr/>
        </p:nvSpPr>
        <p:spPr>
          <a:xfrm>
            <a:off x="736600" y="1587500"/>
            <a:ext cx="1041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700">
                <a:solidFill>
                  <a:srgbClr val="696776"/>
                </a:solidFill>
                <a:latin typeface="Aptos" panose="020B0004020202020204" pitchFamily="34" charset="0"/>
              </a:rPr>
              <a:t>El proyecto cumple el objetivo de construir una plataforma real, útil y ampliable para un negocio local.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2224104-8D44-D723-D03B-F7FA65F90906}"/>
              </a:ext>
            </a:extLst>
          </p:cNvPr>
          <p:cNvSpPr/>
          <p:nvPr/>
        </p:nvSpPr>
        <p:spPr>
          <a:xfrm>
            <a:off x="1270000" y="2057400"/>
            <a:ext cx="609600" cy="6096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>
                <a:solidFill>
                  <a:srgbClr val="7C3AED"/>
                </a:solidFill>
                <a:latin typeface="Aptos Display" panose="020B0004020202020204" pitchFamily="34" charset="0"/>
              </a:rPr>
              <a:t>OK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26676B2-4A3D-2D97-5831-48853CE3B00A}"/>
              </a:ext>
            </a:extLst>
          </p:cNvPr>
          <p:cNvSpPr txBox="1"/>
          <p:nvPr/>
        </p:nvSpPr>
        <p:spPr>
          <a:xfrm>
            <a:off x="2159000" y="1968500"/>
            <a:ext cx="660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200" b="1">
                <a:solidFill>
                  <a:srgbClr val="191821"/>
                </a:solidFill>
                <a:latin typeface="Aptos Display" panose="020B0004020202020204" pitchFamily="34" charset="0"/>
              </a:rPr>
              <a:t>Base de datos funcional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EFABFD1-A0D6-065E-33A1-C167E5A72826}"/>
              </a:ext>
            </a:extLst>
          </p:cNvPr>
          <p:cNvSpPr txBox="1"/>
          <p:nvPr/>
        </p:nvSpPr>
        <p:spPr>
          <a:xfrm>
            <a:off x="2159000" y="2451100"/>
            <a:ext cx="939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696776"/>
                </a:solidFill>
                <a:latin typeface="Aptos" panose="020B0004020202020204" pitchFamily="34" charset="0"/>
              </a:rPr>
              <a:t>Siete colecciones MongoDB modelan usuarios, citas, servicios, profesionales, bloqueos, notas y configuración.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550605F-5B90-22B7-BBC4-334006964132}"/>
              </a:ext>
            </a:extLst>
          </p:cNvPr>
          <p:cNvSpPr/>
          <p:nvPr/>
        </p:nvSpPr>
        <p:spPr>
          <a:xfrm>
            <a:off x="1270000" y="3327400"/>
            <a:ext cx="609600" cy="6096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>
                <a:solidFill>
                  <a:srgbClr val="10B981"/>
                </a:solidFill>
                <a:latin typeface="Aptos Display" panose="020B0004020202020204" pitchFamily="34" charset="0"/>
              </a:rPr>
              <a:t>OK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5821B44-EB0D-C2D8-AB3D-29CB2AF88447}"/>
              </a:ext>
            </a:extLst>
          </p:cNvPr>
          <p:cNvSpPr txBox="1"/>
          <p:nvPr/>
        </p:nvSpPr>
        <p:spPr>
          <a:xfrm>
            <a:off x="2159000" y="3238500"/>
            <a:ext cx="660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200" b="1">
                <a:solidFill>
                  <a:srgbClr val="191821"/>
                </a:solidFill>
                <a:latin typeface="Aptos Display" panose="020B0004020202020204" pitchFamily="34" charset="0"/>
              </a:rPr>
              <a:t>Aplicación completa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D020F37-4DC1-0DFA-F02E-C381A23E32B5}"/>
              </a:ext>
            </a:extLst>
          </p:cNvPr>
          <p:cNvSpPr txBox="1"/>
          <p:nvPr/>
        </p:nvSpPr>
        <p:spPr>
          <a:xfrm>
            <a:off x="2159000" y="3721100"/>
            <a:ext cx="939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696776"/>
                </a:solidFill>
                <a:latin typeface="Aptos" panose="020B0004020202020204" pitchFamily="34" charset="0"/>
              </a:rPr>
              <a:t>Incluye portal de reservas, panel de administración, autenticación, seguridad y despliegue.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CBC5B502-EC0D-847D-3031-7926DE4F9F31}"/>
              </a:ext>
            </a:extLst>
          </p:cNvPr>
          <p:cNvSpPr/>
          <p:nvPr/>
        </p:nvSpPr>
        <p:spPr>
          <a:xfrm>
            <a:off x="1270000" y="4597400"/>
            <a:ext cx="609600" cy="6096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>
                <a:solidFill>
                  <a:srgbClr val="7C3AED"/>
                </a:solidFill>
                <a:latin typeface="Aptos Display" panose="020B0004020202020204" pitchFamily="34" charset="0"/>
              </a:rPr>
              <a:t>OK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E5F08BE-8077-E401-0E82-D387B527A226}"/>
              </a:ext>
            </a:extLst>
          </p:cNvPr>
          <p:cNvSpPr txBox="1"/>
          <p:nvPr/>
        </p:nvSpPr>
        <p:spPr>
          <a:xfrm>
            <a:off x="2159000" y="4508500"/>
            <a:ext cx="660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200" b="1">
                <a:solidFill>
                  <a:srgbClr val="191821"/>
                </a:solidFill>
                <a:latin typeface="Aptos Display" panose="020B0004020202020204" pitchFamily="34" charset="0"/>
              </a:rPr>
              <a:t>Valor práctico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16F493A-7CEE-BAB9-7F0D-F554DFF943EF}"/>
              </a:ext>
            </a:extLst>
          </p:cNvPr>
          <p:cNvSpPr txBox="1"/>
          <p:nvPr/>
        </p:nvSpPr>
        <p:spPr>
          <a:xfrm>
            <a:off x="2159000" y="4991100"/>
            <a:ext cx="939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696776"/>
                </a:solidFill>
                <a:latin typeface="Aptos" panose="020B0004020202020204" pitchFamily="34" charset="0"/>
              </a:rPr>
              <a:t>Reduce interrupciones, ordena la agenda y centraliza información del cliente.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20960CB0-C3E1-46D4-1D31-DB701FD1ADFE}"/>
              </a:ext>
            </a:extLst>
          </p:cNvPr>
          <p:cNvSpPr/>
          <p:nvPr/>
        </p:nvSpPr>
        <p:spPr>
          <a:xfrm>
            <a:off x="1524000" y="6159500"/>
            <a:ext cx="9144000" cy="635000"/>
          </a:xfrm>
          <a:prstGeom prst="roundRect">
            <a:avLst/>
          </a:prstGeom>
          <a:solidFill>
            <a:srgbClr val="FFFFFF"/>
          </a:solidFill>
          <a:ln>
            <a:solidFill>
              <a:srgbClr val="E6E1F4"/>
            </a:solidFill>
          </a:ln>
          <a:effectLst>
            <a:outerShdw blurRad="127000" dist="37357" dir="2700000" rotWithShape="0">
              <a:scrgbClr r="0" g="0" b="0">
                <a:alpha val="12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Ins="254000" rtlCol="0" anchor="ctr"/>
          <a:lstStyle/>
          <a:p>
            <a:pPr algn="ctr"/>
            <a:r>
              <a:rPr lang="es-ES" b="1">
                <a:solidFill>
                  <a:srgbClr val="291947"/>
                </a:solidFill>
                <a:latin typeface="Aptos Display" panose="020B0004020202020204" pitchFamily="34" charset="0"/>
              </a:rPr>
              <a:t>Líneas futuras: notificaciones, pagos online, estadísticas avanzadas y bloqueos recurrentes.</a:t>
            </a:r>
          </a:p>
        </p:txBody>
      </p:sp>
    </p:spTree>
    <p:extLst>
      <p:ext uri="{BB962C8B-B14F-4D97-AF65-F5344CB8AC3E}">
        <p14:creationId xmlns:p14="http://schemas.microsoft.com/office/powerpoint/2010/main" val="4151594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BED7A2C-8E43-ADC5-157B-7C696244DF67}"/>
              </a:ext>
            </a:extLst>
          </p:cNvPr>
          <p:cNvSpPr/>
          <p:nvPr/>
        </p:nvSpPr>
        <p:spPr>
          <a:xfrm>
            <a:off x="9525000" y="-1460500"/>
            <a:ext cx="4191000" cy="4191000"/>
          </a:xfrm>
          <a:prstGeom prst="ellipse">
            <a:avLst/>
          </a:prstGeom>
          <a:solidFill>
            <a:srgbClr val="EEE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8FA9D326-07F9-FD05-D541-E5FFCF69F12E}"/>
              </a:ext>
            </a:extLst>
          </p:cNvPr>
          <p:cNvSpPr/>
          <p:nvPr/>
        </p:nvSpPr>
        <p:spPr>
          <a:xfrm>
            <a:off x="-1460500" y="4826000"/>
            <a:ext cx="3683000" cy="3683000"/>
          </a:xfrm>
          <a:prstGeom prst="ellipse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FC9E09E-162B-9FBE-1873-79BA6A1865CF}"/>
              </a:ext>
            </a:extLst>
          </p:cNvPr>
          <p:cNvSpPr/>
          <p:nvPr/>
        </p:nvSpPr>
        <p:spPr>
          <a:xfrm>
            <a:off x="10033000" y="5842000"/>
            <a:ext cx="1270000" cy="1778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6D24D1A-7CDA-9334-9C04-73CEE67C4593}"/>
              </a:ext>
            </a:extLst>
          </p:cNvPr>
          <p:cNvSpPr/>
          <p:nvPr/>
        </p:nvSpPr>
        <p:spPr>
          <a:xfrm>
            <a:off x="8509000" y="5842000"/>
            <a:ext cx="1270000" cy="177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F8F224-3BA7-75E5-C8C8-36909BB6FEAA}"/>
              </a:ext>
            </a:extLst>
          </p:cNvPr>
          <p:cNvSpPr txBox="1"/>
          <p:nvPr/>
        </p:nvSpPr>
        <p:spPr>
          <a:xfrm>
            <a:off x="4889500" y="2095500"/>
            <a:ext cx="31750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4800" b="1">
                <a:solidFill>
                  <a:srgbClr val="191821"/>
                </a:solidFill>
                <a:latin typeface="Aptos Display" panose="020B0004020202020204" pitchFamily="34" charset="0"/>
              </a:rPr>
              <a:t>Gracias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E26863-B6A2-2E40-FC5B-3A49A504BC6C}"/>
              </a:ext>
            </a:extLst>
          </p:cNvPr>
          <p:cNvSpPr txBox="1"/>
          <p:nvPr/>
        </p:nvSpPr>
        <p:spPr>
          <a:xfrm>
            <a:off x="5080000" y="3175000"/>
            <a:ext cx="279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800">
                <a:solidFill>
                  <a:srgbClr val="7C3AED"/>
                </a:solidFill>
                <a:latin typeface="Aptos" panose="020B0004020202020204" pitchFamily="34" charset="0"/>
              </a:rPr>
              <a:t>Preguntas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4ED1F04-A078-6640-9E81-80922B031362}"/>
              </a:ext>
            </a:extLst>
          </p:cNvPr>
          <p:cNvSpPr/>
          <p:nvPr/>
        </p:nvSpPr>
        <p:spPr>
          <a:xfrm>
            <a:off x="5461000" y="4254500"/>
            <a:ext cx="1270000" cy="1270000"/>
          </a:xfrm>
          <a:prstGeom prst="ellipse">
            <a:avLst/>
          </a:prstGeom>
          <a:solidFill>
            <a:srgbClr val="F4F0FF"/>
          </a:solidFill>
          <a:ln>
            <a:solidFill>
              <a:srgbClr val="E2D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400" b="1">
                <a:solidFill>
                  <a:srgbClr val="7C3AED"/>
                </a:solidFill>
                <a:latin typeface="Aptos Display" panose="020B0004020202020204" pitchFamily="34" charset="0"/>
              </a:rPr>
              <a:t>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5D26A4A-062D-A8C4-822F-46E11164D42B}"/>
              </a:ext>
            </a:extLst>
          </p:cNvPr>
          <p:cNvSpPr txBox="1"/>
          <p:nvPr/>
        </p:nvSpPr>
        <p:spPr>
          <a:xfrm>
            <a:off x="698500" y="6375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1100">
                <a:solidFill>
                  <a:srgbClr val="696776"/>
                </a:solidFill>
                <a:latin typeface="Aptos" panose="020B0004020202020204" pitchFamily="34" charset="0"/>
              </a:rPr>
              <a:t>Sistema de Gestión y Reservas a Medida</a:t>
            </a:r>
          </a:p>
        </p:txBody>
      </p:sp>
    </p:spTree>
    <p:extLst>
      <p:ext uri="{BB962C8B-B14F-4D97-AF65-F5344CB8AC3E}">
        <p14:creationId xmlns:p14="http://schemas.microsoft.com/office/powerpoint/2010/main" val="1885755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738</Words>
  <Application>Microsoft Office PowerPoint</Application>
  <PresentationFormat>Panorámica</PresentationFormat>
  <Paragraphs>185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JOAQUIN BORJA LEON</dc:creator>
  <cp:lastModifiedBy>JOAQUIN BORJA LEON</cp:lastModifiedBy>
  <cp:revision>1</cp:revision>
  <dcterms:created xsi:type="dcterms:W3CDTF">2026-04-26T15:50:55Z</dcterms:created>
  <dcterms:modified xsi:type="dcterms:W3CDTF">2026-04-26T16:01:25Z</dcterms:modified>
</cp:coreProperties>
</file>